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0688638" cy="7562850"/>
  <p:notesSz cx="7562850" cy="106886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>
        <p:scale>
          <a:sx n="99" d="100"/>
          <a:sy n="99" d="100"/>
        </p:scale>
        <p:origin x="856" y="1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496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g"/><Relationship Id="rId5" Type="http://schemas.openxmlformats.org/officeDocument/2006/relationships/image" Target="../media/image14.png"/><Relationship Id="rId4" Type="http://schemas.openxmlformats.org/officeDocument/2006/relationships/image" Target="../media/image4.png"/><Relationship Id="rId9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274320" y="570631"/>
            <a:ext cx="1068863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MainT-AI fujimak ver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0" y="1253082"/>
            <a:ext cx="106886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 err="1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システム紹介</a:t>
            </a:r>
            <a:endParaRPr lang="en-US" b="1" dirty="0"/>
          </a:p>
        </p:txBody>
      </p:sp>
      <p:pic>
        <p:nvPicPr>
          <p:cNvPr id="6" name="Image 1" descr="/Users/sakonhiroki/Library/CloudStorage/GoogleDrive-bestinksalesman@gmail.com/マイドライブ/KIRII/吉沢さん案件/fujimak/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2754" y="2055746"/>
            <a:ext cx="1877962" cy="187796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12754" y="70898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作成日: 2026/03/30</a:t>
            </a:r>
            <a:endParaRPr lang="en-US" sz="900" dirty="0"/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D570020E-1718-01A9-1BA0-B10FC98131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7808" y="2031969"/>
            <a:ext cx="3315733" cy="2098237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42476C9C-6EB2-ED2F-F6B7-0E491D541F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2882" y="4189553"/>
            <a:ext cx="2834640" cy="1793795"/>
          </a:xfrm>
          <a:prstGeom prst="rect">
            <a:avLst/>
          </a:prstGeom>
        </p:spPr>
      </p:pic>
      <p:sp>
        <p:nvSpPr>
          <p:cNvPr id="16" name="TextBox 6">
            <a:extLst>
              <a:ext uri="{FF2B5EF4-FFF2-40B4-BE49-F238E27FC236}">
                <a16:creationId xmlns:a16="http://schemas.microsoft.com/office/drawing/2014/main" id="{F5BE6BB4-6763-92C3-9A99-F7A7D3439E55}"/>
              </a:ext>
            </a:extLst>
          </p:cNvPr>
          <p:cNvSpPr txBox="1"/>
          <p:nvPr/>
        </p:nvSpPr>
        <p:spPr>
          <a:xfrm>
            <a:off x="1076674" y="7272700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dirty="0">
                <a:solidFill>
                  <a:srgbClr val="667694"/>
                </a:solidFill>
                <a:latin typeface="Meiryo"/>
              </a:rPr>
              <a:t>© 2024 LIFESUPPORT(HK) All Right Reserved.</a:t>
            </a:r>
          </a:p>
        </p:txBody>
      </p:sp>
      <p:sp>
        <p:nvSpPr>
          <p:cNvPr id="18" name="Shape 0">
            <a:extLst>
              <a:ext uri="{FF2B5EF4-FFF2-40B4-BE49-F238E27FC236}">
                <a16:creationId xmlns:a16="http://schemas.microsoft.com/office/drawing/2014/main" id="{A739726B-9934-983E-046D-BCBC0A167761}"/>
              </a:ext>
            </a:extLst>
          </p:cNvPr>
          <p:cNvSpPr/>
          <p:nvPr/>
        </p:nvSpPr>
        <p:spPr>
          <a:xfrm>
            <a:off x="0" y="0"/>
            <a:ext cx="10689336" cy="137160"/>
          </a:xfrm>
          <a:prstGeom prst="rect">
            <a:avLst/>
          </a:prstGeom>
          <a:solidFill>
            <a:schemeClr val="tx1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HK" altLang="en-US" dirty="0"/>
          </a:p>
        </p:txBody>
      </p:sp>
      <p:pic>
        <p:nvPicPr>
          <p:cNvPr id="20" name="図 19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10588EBE-AC40-CEAD-FE97-03E031B87C5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7647" t="5253" r="14640" b="18365"/>
          <a:stretch>
            <a:fillRect/>
          </a:stretch>
        </p:blipFill>
        <p:spPr>
          <a:xfrm>
            <a:off x="7334400" y="3616338"/>
            <a:ext cx="2899673" cy="1635467"/>
          </a:xfrm>
          <a:prstGeom prst="rect">
            <a:avLst/>
          </a:prstGeom>
        </p:spPr>
      </p:pic>
      <p:pic>
        <p:nvPicPr>
          <p:cNvPr id="21" name="Image 1" descr="/Users/sakonhiroki/Library/CloudStorage/GoogleDrive-bestinksalesman@gmail.com/マイドライブ/KIRII/吉沢さん案件/fujimak/cloud.png">
            <a:extLst>
              <a:ext uri="{FF2B5EF4-FFF2-40B4-BE49-F238E27FC236}">
                <a16:creationId xmlns:a16="http://schemas.microsoft.com/office/drawing/2014/main" id="{A861651D-1883-10ED-F22B-48B4E49802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3695" y="308759"/>
            <a:ext cx="1117753" cy="1117753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CD6ED4FD-4E16-F041-118C-284A7B5745F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9867" t="13113" r="40616" b="14173"/>
          <a:stretch>
            <a:fillRect/>
          </a:stretch>
        </p:blipFill>
        <p:spPr>
          <a:xfrm>
            <a:off x="1369336" y="2473482"/>
            <a:ext cx="1842443" cy="343214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37160"/>
          </a:xfrm>
          <a:prstGeom prst="rect">
            <a:avLst/>
          </a:prstGeom>
          <a:solidFill>
            <a:schemeClr val="tx1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HK" alt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194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モバイル運用フロー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iPhoneでの基本操作の全体像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店舗選択 → ダッシュボード → メンテ依頼 → AIチャット → 履歴確認 → 管理連携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1667127" y="5350833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現場入力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4476783" y="5350833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クラウド処理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7951503" y="5350833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管理確認</a:t>
            </a:r>
            <a:endParaRPr lang="en-US" sz="1600" dirty="0"/>
          </a:p>
        </p:txBody>
      </p:sp>
      <p:pic>
        <p:nvPicPr>
          <p:cNvPr id="8" name="Image 2" descr="/Users/sakonhiroki/Library/CloudStorage/GoogleDrive-bestinksalesman@gmail.com/マイドライブ/KIRII/吉沢さん案件/fujimak/PC.png"/>
          <p:cNvPicPr>
            <a:picLocks noChangeAspect="1"/>
          </p:cNvPicPr>
          <p:nvPr/>
        </p:nvPicPr>
        <p:blipFill>
          <a:blip r:embed="rId3"/>
          <a:srcRect l="14684" r="15945" b="15602"/>
          <a:stretch>
            <a:fillRect/>
          </a:stretch>
        </p:blipFill>
        <p:spPr>
          <a:xfrm>
            <a:off x="7332604" y="3219410"/>
            <a:ext cx="1902941" cy="1697818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 flipV="1">
            <a:off x="2491228" y="4076967"/>
            <a:ext cx="1901496" cy="2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10" name="Shape 5"/>
          <p:cNvSpPr/>
          <p:nvPr/>
        </p:nvSpPr>
        <p:spPr>
          <a:xfrm flipV="1">
            <a:off x="6130083" y="4076967"/>
            <a:ext cx="1521912" cy="1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pic>
        <p:nvPicPr>
          <p:cNvPr id="7" name="Image 1" descr="/Users/sakonhiroki/Library/CloudStorage/GoogleDrive-bestinksalesman@gmail.com/マイドライブ/KIRII/吉沢さん案件/fujimak/cloud.png"/>
          <p:cNvPicPr>
            <a:picLocks noChangeAspect="1"/>
          </p:cNvPicPr>
          <p:nvPr/>
        </p:nvPicPr>
        <p:blipFill>
          <a:blip r:embed="rId4"/>
          <a:srcRect t="12989" r="3555" b="13735"/>
          <a:stretch>
            <a:fillRect/>
          </a:stretch>
        </p:blipFill>
        <p:spPr>
          <a:xfrm>
            <a:off x="4166131" y="3219410"/>
            <a:ext cx="2234669" cy="1697818"/>
          </a:xfrm>
          <a:prstGeom prst="rect">
            <a:avLst/>
          </a:prstGeom>
        </p:spPr>
      </p:pic>
      <p:sp>
        <p:nvSpPr>
          <p:cNvPr id="18" name="TextBox 6">
            <a:extLst>
              <a:ext uri="{FF2B5EF4-FFF2-40B4-BE49-F238E27FC236}">
                <a16:creationId xmlns:a16="http://schemas.microsoft.com/office/drawing/2014/main" id="{BDAB57FE-A129-B69F-A5E8-964B5153091A}"/>
              </a:ext>
            </a:extLst>
          </p:cNvPr>
          <p:cNvSpPr txBox="1"/>
          <p:nvPr/>
        </p:nvSpPr>
        <p:spPr>
          <a:xfrm>
            <a:off x="1076674" y="7272700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dirty="0">
                <a:solidFill>
                  <a:srgbClr val="667694"/>
                </a:solidFill>
                <a:latin typeface="Meiryo"/>
              </a:rPr>
              <a:t>© 2024 LIFESUPPORT(HK) All Right Reserved.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58876E03-8FFA-EBA2-C183-0EFDB827D6B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9867" t="13113" r="40616" b="14173"/>
          <a:stretch>
            <a:fillRect/>
          </a:stretch>
        </p:blipFill>
        <p:spPr>
          <a:xfrm>
            <a:off x="1606501" y="2969638"/>
            <a:ext cx="1103108" cy="205489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37160"/>
          </a:xfrm>
          <a:prstGeom prst="rect">
            <a:avLst/>
          </a:prstGeom>
          <a:solidFill>
            <a:schemeClr val="tx1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2194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画面1: 店舗選択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最初に作業対象の店舗を選択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097280"/>
            <a:ext cx="3749040" cy="6126480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pic>
        <p:nvPicPr>
          <p:cNvPr id="6" name="Image 0" descr="/Users/sakonhiroki/fujimak-maintenance/docs/ppt-assets-mobile/sto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325880"/>
            <a:ext cx="2971800" cy="5623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7004304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iPhone表示イメージ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0" y="1097280"/>
            <a:ext cx="5486400" cy="612648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9" name="Text 6"/>
          <p:cNvSpPr/>
          <p:nvPr/>
        </p:nvSpPr>
        <p:spPr>
          <a:xfrm>
            <a:off x="4800600" y="1325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この画面で行うこと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828032" y="1783080"/>
            <a:ext cx="48920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地域フィルタで対象エリアを絞り込み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店舗名を検索して選択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選択後、ダッシュボードへ移動</a:t>
            </a:r>
            <a:endParaRPr lang="en-US" sz="1400" dirty="0"/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F04071E4-0799-D6CC-D4E2-684D6170F603}"/>
              </a:ext>
            </a:extLst>
          </p:cNvPr>
          <p:cNvSpPr txBox="1"/>
          <p:nvPr/>
        </p:nvSpPr>
        <p:spPr>
          <a:xfrm>
            <a:off x="1076674" y="7272700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dirty="0">
                <a:solidFill>
                  <a:srgbClr val="667694"/>
                </a:solidFill>
                <a:latin typeface="Meiryo"/>
              </a:rPr>
              <a:t>© 2024 LIFESUPPORT(HK) All Right Reserved.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37160"/>
          </a:xfrm>
          <a:prstGeom prst="rect">
            <a:avLst/>
          </a:prstGeom>
          <a:solidFill>
            <a:schemeClr val="tx1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2194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画面2: ダッシュボード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主要メニューから業務を開始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097280"/>
            <a:ext cx="3749040" cy="6126480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7" name="Text 4"/>
          <p:cNvSpPr/>
          <p:nvPr/>
        </p:nvSpPr>
        <p:spPr>
          <a:xfrm>
            <a:off x="987552" y="7004304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iPhone表示イメージ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0" y="1097280"/>
            <a:ext cx="5486400" cy="612648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9" name="Text 6"/>
          <p:cNvSpPr/>
          <p:nvPr/>
        </p:nvSpPr>
        <p:spPr>
          <a:xfrm>
            <a:off x="4800600" y="1325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この画面で行うこと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828032" y="1783080"/>
            <a:ext cx="48920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「New Maintenance Call」で新規依頼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「View History」で過去ログ確認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「Notifications」で進捗通知を確認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画面下ナビでいつでも主要画面へ移動</a:t>
            </a:r>
            <a:endParaRPr lang="en-US" sz="1400" dirty="0"/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10B6AAF9-44F4-6C44-15A4-44C841BF2537}"/>
              </a:ext>
            </a:extLst>
          </p:cNvPr>
          <p:cNvSpPr txBox="1"/>
          <p:nvPr/>
        </p:nvSpPr>
        <p:spPr>
          <a:xfrm>
            <a:off x="1076674" y="7285579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dirty="0">
                <a:solidFill>
                  <a:srgbClr val="667694"/>
                </a:solidFill>
                <a:latin typeface="Meiryo"/>
              </a:rPr>
              <a:t>© 2024 LIFESUPPORT(HK) All Right Reserved.</a:t>
            </a: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3ADDEB00-E658-4BD7-5314-0FA25B2093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94" t="-124" b="1"/>
          <a:stretch>
            <a:fillRect/>
          </a:stretch>
        </p:blipFill>
        <p:spPr>
          <a:xfrm>
            <a:off x="968566" y="1234441"/>
            <a:ext cx="3063043" cy="563346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37160"/>
          </a:xfrm>
          <a:prstGeom prst="rect">
            <a:avLst/>
          </a:prstGeom>
          <a:solidFill>
            <a:schemeClr val="tx1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2194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画面3: メンテナンス依頼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機器・症状・緊急度をステップ入力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097280"/>
            <a:ext cx="3749040" cy="6126480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pic>
        <p:nvPicPr>
          <p:cNvPr id="6" name="Image 0" descr="/Users/sakonhiroki/fujimak-maintenance/docs/ppt-assets-mobile/mainten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325880"/>
            <a:ext cx="2971800" cy="5623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7004304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iPhone表示イメージ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0" y="1097280"/>
            <a:ext cx="5486400" cy="612648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9" name="Text 6"/>
          <p:cNvSpPr/>
          <p:nvPr/>
        </p:nvSpPr>
        <p:spPr>
          <a:xfrm>
            <a:off x="4800600" y="1325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この画面で行うこと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828032" y="1783080"/>
            <a:ext cx="48920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機器/シリアルを選択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故障箇所・症状を入力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緊急度と希望日時を設定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送信して管理側に連携</a:t>
            </a:r>
            <a:endParaRPr lang="en-US" sz="1400" dirty="0"/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69C00634-E069-9884-8F7F-9E570E485D52}"/>
              </a:ext>
            </a:extLst>
          </p:cNvPr>
          <p:cNvSpPr txBox="1"/>
          <p:nvPr/>
        </p:nvSpPr>
        <p:spPr>
          <a:xfrm>
            <a:off x="1076674" y="7285579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dirty="0">
                <a:solidFill>
                  <a:srgbClr val="667694"/>
                </a:solidFill>
                <a:latin typeface="Meiryo"/>
              </a:rPr>
              <a:t>© 2024 LIFESUPPORT(HK) All Right Reserved.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37160"/>
          </a:xfrm>
          <a:prstGeom prst="rect">
            <a:avLst/>
          </a:prstGeom>
          <a:solidFill>
            <a:schemeClr val="tx1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2194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画面4: AIサポートチャット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対話で必要情報を補完し、写真/動画も送信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097280"/>
            <a:ext cx="3749040" cy="6126480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pic>
        <p:nvPicPr>
          <p:cNvPr id="6" name="Image 0" descr="/Users/sakonhiroki/fujimak-maintenance/docs/ppt-assets-mobile/sup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325880"/>
            <a:ext cx="2971800" cy="5623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7004304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iPhone表示イメージ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0" y="1097280"/>
            <a:ext cx="5486400" cy="612648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9" name="Text 6"/>
          <p:cNvSpPr/>
          <p:nvPr/>
        </p:nvSpPr>
        <p:spPr>
          <a:xfrm>
            <a:off x="4800600" y="1325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この画面で行うこと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828032" y="1783080"/>
            <a:ext cx="48920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苗字・連絡先・症状を順番に案内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写真/動画を添付して状況共有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不足情報をAIが聞き返して品質向上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会話ログは履歴・管理画面に保存</a:t>
            </a:r>
            <a:endParaRPr lang="en-US" sz="1400" dirty="0"/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45FD8A36-92DC-0464-73C5-0BF34776115E}"/>
              </a:ext>
            </a:extLst>
          </p:cNvPr>
          <p:cNvSpPr txBox="1"/>
          <p:nvPr/>
        </p:nvSpPr>
        <p:spPr>
          <a:xfrm>
            <a:off x="1076674" y="7272700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dirty="0">
                <a:solidFill>
                  <a:srgbClr val="667694"/>
                </a:solidFill>
                <a:latin typeface="Meiryo"/>
              </a:rPr>
              <a:t>© 2024 LIFESUPPORT(HK) All Right Reserved.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37160"/>
          </a:xfrm>
          <a:prstGeom prst="rect">
            <a:avLst/>
          </a:prstGeom>
          <a:solidFill>
            <a:schemeClr val="tx1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2194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画面5: Request History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過去依頼とAIサポート履歴を確認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097280"/>
            <a:ext cx="3749040" cy="6126480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pic>
        <p:nvPicPr>
          <p:cNvPr id="6" name="Image 0" descr="/Users/sakonhiroki/fujimak-maintenance/docs/ppt-assets-mobile/hi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325880"/>
            <a:ext cx="2971800" cy="5623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7004304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iPhone表示イメージ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0" y="1097280"/>
            <a:ext cx="5486400" cy="612648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9" name="Text 6"/>
          <p:cNvSpPr/>
          <p:nvPr/>
        </p:nvSpPr>
        <p:spPr>
          <a:xfrm>
            <a:off x="4800600" y="1325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この画面で行うこと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828032" y="1783080"/>
            <a:ext cx="48920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依頼履歴をステータス別に確認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Support Request HistoryでAI会話ログを確認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画像・動画添付も履歴から再確認可能</a:t>
            </a:r>
            <a:endParaRPr lang="en-US" sz="1400" dirty="0"/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3FDEADD7-26FC-2595-36A0-3E9897248486}"/>
              </a:ext>
            </a:extLst>
          </p:cNvPr>
          <p:cNvSpPr txBox="1"/>
          <p:nvPr/>
        </p:nvSpPr>
        <p:spPr>
          <a:xfrm>
            <a:off x="1076674" y="7272700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dirty="0">
                <a:solidFill>
                  <a:srgbClr val="667694"/>
                </a:solidFill>
                <a:latin typeface="Meiryo"/>
              </a:rPr>
              <a:t>© 2024 LIFESUPPORT(HK) All Right Reserved.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37160"/>
          </a:xfrm>
          <a:prstGeom prst="rect">
            <a:avLst/>
          </a:prstGeom>
          <a:solidFill>
            <a:schemeClr val="tx1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2194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画面6: Store Management（管理者）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全案件の進捗と内容を一元管理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097280"/>
            <a:ext cx="3749040" cy="6126480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pic>
        <p:nvPicPr>
          <p:cNvPr id="6" name="Image 0" descr="/Users/sakonhiroki/fujimak-maintenance/docs/ppt-assets-mobile/manage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325880"/>
            <a:ext cx="2971800" cy="5623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7004304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iPhone表示イメージ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0" y="1097280"/>
            <a:ext cx="5486400" cy="612648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9" name="Text 6"/>
          <p:cNvSpPr/>
          <p:nvPr/>
        </p:nvSpPr>
        <p:spPr>
          <a:xfrm>
            <a:off x="4800600" y="1325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この画面で行うこと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828032" y="1783080"/>
            <a:ext cx="48920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店舗横断で依頼一覧を確認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チャットログ・添付を確認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優先度とステータスで対応を管理</a:t>
            </a:r>
            <a:endParaRPr lang="en-US" sz="1400" dirty="0"/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6C4253ED-8497-C4CD-88C0-FEEB1FA86D8C}"/>
              </a:ext>
            </a:extLst>
          </p:cNvPr>
          <p:cNvSpPr txBox="1"/>
          <p:nvPr/>
        </p:nvSpPr>
        <p:spPr>
          <a:xfrm>
            <a:off x="1076674" y="7272700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dirty="0">
                <a:solidFill>
                  <a:srgbClr val="667694"/>
                </a:solidFill>
                <a:latin typeface="Meiryo"/>
              </a:rPr>
              <a:t>© 2024 LIFESUPPORT(HK) All Right Reserved.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37160"/>
          </a:xfrm>
          <a:prstGeom prst="rect">
            <a:avLst/>
          </a:prstGeom>
          <a:solidFill>
            <a:schemeClr val="tx1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2194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画面7: Settings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通知先や運用設定を管理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097280"/>
            <a:ext cx="3749040" cy="6126480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pic>
        <p:nvPicPr>
          <p:cNvPr id="6" name="Image 0" descr="/Users/sakonhiroki/fujimak-maintenance/docs/ppt-assets-mobile/sett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325880"/>
            <a:ext cx="2971800" cy="5623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7004304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iPhone表示イメージ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0" y="1097280"/>
            <a:ext cx="5486400" cy="612648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9" name="Text 6"/>
          <p:cNvSpPr/>
          <p:nvPr/>
        </p:nvSpPr>
        <p:spPr>
          <a:xfrm>
            <a:off x="4800600" y="1325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この画面で行うこと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828032" y="1783080"/>
            <a:ext cx="48920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通知ベンダー情報を管理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部品発注メール送信先を設定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運用開始前に連絡先を整備</a:t>
            </a:r>
            <a:endParaRPr lang="en-US" sz="1400" dirty="0"/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99C89FD0-4055-0D28-316B-914FD29A211D}"/>
              </a:ext>
            </a:extLst>
          </p:cNvPr>
          <p:cNvSpPr txBox="1"/>
          <p:nvPr/>
        </p:nvSpPr>
        <p:spPr>
          <a:xfrm>
            <a:off x="1076674" y="7272700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dirty="0">
                <a:solidFill>
                  <a:srgbClr val="667694"/>
                </a:solidFill>
                <a:latin typeface="Meiryo"/>
              </a:rPr>
              <a:t>© 2024 LIFESUPPORT(HK) All Right Reserved.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37160"/>
          </a:xfrm>
          <a:prstGeom prst="rect">
            <a:avLst/>
          </a:prstGeom>
          <a:solidFill>
            <a:schemeClr val="tx1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2194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業務用文書の自動作成機能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部品注文データから帳票PDFを自動生成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4391052" cy="6080760"/>
          </a:xfrm>
          <a:prstGeom prst="roundRect">
            <a:avLst>
              <a:gd name="adj" fmla="val 150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7" name="Shape 4"/>
          <p:cNvSpPr/>
          <p:nvPr/>
        </p:nvSpPr>
        <p:spPr>
          <a:xfrm>
            <a:off x="5190186" y="1097280"/>
            <a:ext cx="4959654" cy="608076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8" name="Text 5"/>
          <p:cNvSpPr/>
          <p:nvPr/>
        </p:nvSpPr>
        <p:spPr>
          <a:xfrm>
            <a:off x="5344319" y="1234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自動作成される内容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344319" y="169164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注文番号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店舗/機器情報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部品明細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数量/単価/合計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備考欄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344319" y="397764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メリット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手入力ミス削減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報告を標準化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文書作成時間短縮</a:t>
            </a:r>
            <a:endParaRPr lang="en-US" sz="1300" dirty="0"/>
          </a:p>
        </p:txBody>
      </p:sp>
      <p:pic>
        <p:nvPicPr>
          <p:cNvPr id="12" name="図 11" descr="テーブル&#10;&#10;AI 生成コンテンツは誤りを含む可能性があります。">
            <a:extLst>
              <a:ext uri="{FF2B5EF4-FFF2-40B4-BE49-F238E27FC236}">
                <a16:creationId xmlns:a16="http://schemas.microsoft.com/office/drawing/2014/main" id="{6D3754FB-D5D8-45FA-7605-0726874C83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729" y="1234440"/>
            <a:ext cx="3993649" cy="5633466"/>
          </a:xfrm>
          <a:prstGeom prst="rect">
            <a:avLst/>
          </a:prstGeom>
        </p:spPr>
      </p:pic>
      <p:sp>
        <p:nvSpPr>
          <p:cNvPr id="13" name="TextBox 6">
            <a:extLst>
              <a:ext uri="{FF2B5EF4-FFF2-40B4-BE49-F238E27FC236}">
                <a16:creationId xmlns:a16="http://schemas.microsoft.com/office/drawing/2014/main" id="{5B48DF44-AA8F-4277-5559-0983CBD90FF4}"/>
              </a:ext>
            </a:extLst>
          </p:cNvPr>
          <p:cNvSpPr txBox="1"/>
          <p:nvPr/>
        </p:nvSpPr>
        <p:spPr>
          <a:xfrm>
            <a:off x="1076674" y="7272700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dirty="0">
                <a:solidFill>
                  <a:srgbClr val="667694"/>
                </a:solidFill>
                <a:latin typeface="Meiryo"/>
              </a:rPr>
              <a:t>© 2024 LIFESUPPORT(HK) All Right Reserved.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37160"/>
          </a:xfrm>
          <a:prstGeom prst="rect">
            <a:avLst/>
          </a:prstGeom>
          <a:solidFill>
            <a:schemeClr val="tx1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2194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ハードウェア接続マップ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iPhone・管理PC・クラウドの連携構成</a:t>
            </a:r>
            <a:endParaRPr lang="en-US" sz="1200" dirty="0"/>
          </a:p>
        </p:txBody>
      </p:sp>
      <p:pic>
        <p:nvPicPr>
          <p:cNvPr id="6" name="Image 0" descr="/Users/sakonhiroki/Library/CloudStorage/GoogleDrive-bestinksalesman@gmail.com/マイドライブ/KIRII/吉沢さん案件/fujimak/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7323" y="3650496"/>
            <a:ext cx="2514600" cy="2514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914443" y="6119376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クラウドシステム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[MainT-AI fujimak ver]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051560" y="64008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顧客 1名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iPhone</a:t>
            </a:r>
            <a:endParaRPr lang="en-US" sz="1200" dirty="0"/>
          </a:p>
        </p:txBody>
      </p:sp>
      <p:pic>
        <p:nvPicPr>
          <p:cNvPr id="10" name="Image 2" descr="/Users/sakonhiroki/Library/CloudStorage/GoogleDrive-bestinksalesman@gmail.com/マイドライブ/KIRII/吉沢さん案件/fujimak/P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9600" y="4526280"/>
            <a:ext cx="3017520" cy="18745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893880" y="64008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カウンターメイン管理PC 1台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 flipV="1">
            <a:off x="2826327" y="5113535"/>
            <a:ext cx="1552697" cy="7104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13" name="Shape 8"/>
          <p:cNvSpPr/>
          <p:nvPr/>
        </p:nvSpPr>
        <p:spPr>
          <a:xfrm>
            <a:off x="7315200" y="4663440"/>
            <a:ext cx="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14" name="Text 9"/>
          <p:cNvSpPr/>
          <p:nvPr/>
        </p:nvSpPr>
        <p:spPr>
          <a:xfrm>
            <a:off x="2971800" y="521247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依頼データ送信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6418161" y="5173463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管理/確認データ</a:t>
            </a:r>
            <a:endParaRPr lang="en-US" sz="1000" dirty="0"/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8356166A-B101-570D-86C0-DE9EE7925193}"/>
              </a:ext>
            </a:extLst>
          </p:cNvPr>
          <p:cNvSpPr/>
          <p:nvPr/>
        </p:nvSpPr>
        <p:spPr>
          <a:xfrm flipH="1" flipV="1">
            <a:off x="6309614" y="5120639"/>
            <a:ext cx="1473551" cy="7104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pic>
        <p:nvPicPr>
          <p:cNvPr id="19" name="図 18" descr="QR コード&#10;&#10;AI 生成コンテンツは誤りを含む可能性があります。">
            <a:extLst>
              <a:ext uri="{FF2B5EF4-FFF2-40B4-BE49-F238E27FC236}">
                <a16:creationId xmlns:a16="http://schemas.microsoft.com/office/drawing/2014/main" id="{954E0562-FC5A-099C-51CB-06875E2BC6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365" y="1722803"/>
            <a:ext cx="1522940" cy="1522940"/>
          </a:xfrm>
          <a:prstGeom prst="rect">
            <a:avLst/>
          </a:prstGeom>
        </p:spPr>
      </p:pic>
      <p:sp>
        <p:nvSpPr>
          <p:cNvPr id="20" name="Text 9">
            <a:extLst>
              <a:ext uri="{FF2B5EF4-FFF2-40B4-BE49-F238E27FC236}">
                <a16:creationId xmlns:a16="http://schemas.microsoft.com/office/drawing/2014/main" id="{5CD61CD1-F287-70F8-D3C8-2276F04532D8}"/>
              </a:ext>
            </a:extLst>
          </p:cNvPr>
          <p:cNvSpPr/>
          <p:nvPr/>
        </p:nvSpPr>
        <p:spPr>
          <a:xfrm>
            <a:off x="1946886" y="1788093"/>
            <a:ext cx="2911780" cy="1200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URLもしくは</a:t>
            </a:r>
            <a:endParaRPr lang="en-US" sz="1000" dirty="0">
              <a:solidFill>
                <a:srgbClr val="2563EB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r>
              <a:rPr lang="en-US" sz="1000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https://</a:t>
            </a:r>
            <a:r>
              <a:rPr lang="en-US" sz="1000" dirty="0" err="1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fujimak-maintenance.vercel.app</a:t>
            </a:r>
            <a:r>
              <a:rPr lang="en-US" sz="1000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/</a:t>
            </a:r>
          </a:p>
          <a:p>
            <a:pPr marL="0" indent="0">
              <a:buNone/>
            </a:pPr>
            <a:endParaRPr lang="en-US" sz="1000" dirty="0">
              <a:solidFill>
                <a:srgbClr val="2563EB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pPr marL="0" indent="0">
              <a:buNone/>
            </a:pPr>
            <a:r>
              <a:rPr lang="en-US" sz="1000" dirty="0" err="1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機械にQRコードシール貼り付け</a:t>
            </a:r>
            <a:endParaRPr lang="en-US" sz="1000" dirty="0"/>
          </a:p>
        </p:txBody>
      </p:sp>
      <p:sp>
        <p:nvSpPr>
          <p:cNvPr id="21" name="TextBox 6">
            <a:extLst>
              <a:ext uri="{FF2B5EF4-FFF2-40B4-BE49-F238E27FC236}">
                <a16:creationId xmlns:a16="http://schemas.microsoft.com/office/drawing/2014/main" id="{7B2EE97B-D9AA-66E1-5E36-577A165D9162}"/>
              </a:ext>
            </a:extLst>
          </p:cNvPr>
          <p:cNvSpPr txBox="1"/>
          <p:nvPr/>
        </p:nvSpPr>
        <p:spPr>
          <a:xfrm>
            <a:off x="1076674" y="7272700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dirty="0">
                <a:solidFill>
                  <a:srgbClr val="667694"/>
                </a:solidFill>
                <a:latin typeface="Meiryo"/>
              </a:rPr>
              <a:t>© 2024 LIFESUPPORT(HK) All Right Reserved.</a:t>
            </a:r>
          </a:p>
        </p:txBody>
      </p: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0EE67B85-E2FA-D3D7-BFFE-B74C63AB2E5B}"/>
              </a:ext>
            </a:extLst>
          </p:cNvPr>
          <p:cNvGrpSpPr/>
          <p:nvPr/>
        </p:nvGrpSpPr>
        <p:grpSpPr>
          <a:xfrm>
            <a:off x="5212688" y="427105"/>
            <a:ext cx="4744432" cy="3083365"/>
            <a:chOff x="4858666" y="565091"/>
            <a:chExt cx="4744432" cy="3083365"/>
          </a:xfrm>
        </p:grpSpPr>
        <p:pic>
          <p:nvPicPr>
            <p:cNvPr id="23" name="図 22">
              <a:extLst>
                <a:ext uri="{FF2B5EF4-FFF2-40B4-BE49-F238E27FC236}">
                  <a16:creationId xmlns:a16="http://schemas.microsoft.com/office/drawing/2014/main" id="{20D19F34-0E9F-078A-C32D-08E1411FC3E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927132" y="1841263"/>
              <a:ext cx="2675966" cy="1693384"/>
            </a:xfrm>
            <a:prstGeom prst="rect">
              <a:avLst/>
            </a:prstGeom>
          </p:spPr>
        </p:pic>
        <p:pic>
          <p:nvPicPr>
            <p:cNvPr id="25" name="図 24">
              <a:extLst>
                <a:ext uri="{FF2B5EF4-FFF2-40B4-BE49-F238E27FC236}">
                  <a16:creationId xmlns:a16="http://schemas.microsoft.com/office/drawing/2014/main" id="{9F378CBA-98B2-C5B6-907E-6681EF25A58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922044" y="1941692"/>
              <a:ext cx="2150928" cy="1361134"/>
            </a:xfrm>
            <a:prstGeom prst="rect">
              <a:avLst/>
            </a:prstGeom>
          </p:spPr>
        </p:pic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321B5891-FB30-9C20-7493-0724E1BA5199}"/>
                </a:ext>
              </a:extLst>
            </p:cNvPr>
            <p:cNvSpPr/>
            <p:nvPr/>
          </p:nvSpPr>
          <p:spPr>
            <a:xfrm>
              <a:off x="4858666" y="1250906"/>
              <a:ext cx="4697458" cy="2397550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HK" altLang="en-US"/>
            </a:p>
          </p:txBody>
        </p:sp>
        <p:pic>
          <p:nvPicPr>
            <p:cNvPr id="27" name="図 26" descr="挿絵, 食品 が含まれている画像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82E4B9A6-BDB6-CC39-70D9-B6D1AB29F37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587009" y="565091"/>
              <a:ext cx="3337560" cy="1267809"/>
            </a:xfrm>
            <a:prstGeom prst="rect">
              <a:avLst/>
            </a:prstGeom>
          </p:spPr>
        </p:pic>
      </p:grpSp>
      <p:pic>
        <p:nvPicPr>
          <p:cNvPr id="5" name="図 4" descr="携帯電話の画面&#10;&#10;AI 生成コンテンツは誤りを含む可能性があります。">
            <a:extLst>
              <a:ext uri="{FF2B5EF4-FFF2-40B4-BE49-F238E27FC236}">
                <a16:creationId xmlns:a16="http://schemas.microsoft.com/office/drawing/2014/main" id="{5BC441B0-C4AA-5EE1-6AB9-CD7BCEAEFC1E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38980" t="6750" r="40428" b="12611"/>
          <a:stretch>
            <a:fillRect/>
          </a:stretch>
        </p:blipFill>
        <p:spPr>
          <a:xfrm>
            <a:off x="1765599" y="4077284"/>
            <a:ext cx="1119731" cy="219235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37160"/>
          </a:xfrm>
          <a:prstGeom prst="rect">
            <a:avLst/>
          </a:prstGeom>
          <a:solidFill>
            <a:schemeClr val="tx1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111633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159181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モバイル中心で現場対応を効率化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8961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現場スタッフはiPhoneだけで依頼～添付～送信まで完結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管理側はPCで全店舗の状況を一元把握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AIチャットと自動文書化により、伝達品質と業務効率を向上</a:t>
            </a:r>
            <a:endParaRPr lang="en-US" sz="1900" dirty="0"/>
          </a:p>
        </p:txBody>
      </p:sp>
      <p:pic>
        <p:nvPicPr>
          <p:cNvPr id="6" name="Image 0" descr="/Users/sakonhiroki/Library/CloudStorage/GoogleDrive-bestinksalesman@gmail.com/マイドライブ/KIRII/吉沢さん案件/fujimak/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4023360"/>
            <a:ext cx="2194560" cy="2194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385989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latin typeface="Meiryo" pitchFamily="34" charset="0"/>
                <a:ea typeface="Meiryo" pitchFamily="34" charset="-122"/>
                <a:cs typeface="Meiryo" pitchFamily="34" charset="-120"/>
              </a:rPr>
              <a:t>ありがとうございました</a:t>
            </a:r>
            <a:endParaRPr lang="en-US" sz="2400" dirty="0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8336240A-F868-2BA4-12D1-87D8DD63920B}"/>
              </a:ext>
            </a:extLst>
          </p:cNvPr>
          <p:cNvSpPr txBox="1"/>
          <p:nvPr/>
        </p:nvSpPr>
        <p:spPr>
          <a:xfrm>
            <a:off x="1076674" y="7285579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dirty="0">
                <a:solidFill>
                  <a:srgbClr val="667694"/>
                </a:solidFill>
                <a:latin typeface="Meiryo"/>
              </a:rPr>
              <a:t>© 2024 LIFESUPPORT(HK) All Right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449</Words>
  <Application>Microsoft Macintosh PowerPoint</Application>
  <PresentationFormat>ユーザー設定</PresentationFormat>
  <Paragraphs>116</Paragraphs>
  <Slides>12</Slides>
  <Notes>12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5" baseType="lpstr">
      <vt:lpstr>Meiryo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FUJIMAK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FUJIMAK MainT-AI モバイル版紹介</dc:title>
  <dc:subject>Mobile-first system introduction</dc:subject>
  <dc:creator>FUJIMAK MainT-AI</dc:creator>
  <cp:lastModifiedBy>hiroki sakon</cp:lastModifiedBy>
  <cp:revision>16</cp:revision>
  <cp:lastPrinted>2026-03-30T04:22:07Z</cp:lastPrinted>
  <dcterms:created xsi:type="dcterms:W3CDTF">2026-03-30T03:49:04Z</dcterms:created>
  <dcterms:modified xsi:type="dcterms:W3CDTF">2026-03-31T02:12:35Z</dcterms:modified>
</cp:coreProperties>
</file>