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7" r:id="rId7"/>
    <p:sldId id="266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1664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667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9B7BC-E1AF-0CE2-5314-04274618D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5141B-016D-F85A-22B7-4DAF83712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1829C-FB8B-B51A-3BAF-7D27C69F6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9A71E-CBA5-A5A0-97D1-92B7D49D2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58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A6534-3980-0470-52F6-964F177A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5DD73-2D89-5110-AAA6-F596DB45D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A48A0-5048-79B2-ADA6-A4C0FB2087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EA694-62FB-8BA6-4C5D-ADDAF7976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8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28600" y="17830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店舗メンテナンス管理システム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10896" y="257175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Store Maintenance Management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0896" y="3383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壽司郎香港 全40店舗 一元管理プラットフォーム構築のご提案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LIFESUPPORT (HK) LIMITED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FOOD &amp; LIFE COMPANIES DX戦略との整合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「デジタルを活用し、社内のシステムユーザーや消費者が認識していない課題解決を行い、新規ビジネスモデルの構築を進める」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FOOD &amp; LIFE COMPANIES DX方針より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社外パートナー連携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設備業者とのリアルタイムな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情報共有プラットフォーム構築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5603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業務効率化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32918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メンテナンス依頼から完了まで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全プロセスのデジタル化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56032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12"/>
          <p:cNvSpPr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店舗オペレーション最適化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2918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全店舗の設備状況を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一元管理・可視化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現状の課題と解決策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93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Before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各店舗が個別に業者へ電話連絡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メンテナンス状況が店舗ごとに分散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紙ベースでの記録・報告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✗ 日程調整は電話でのやり取り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AF5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After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アプリから統一フォーマットで依頼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管理画面で全40店舗を一元管理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デジタルで履歴管理・検索可能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291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アプリ内で日程調整・承認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06644" y="22860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36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734915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メンテナンスコール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6ステップで簡単依頼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43種類のメンテナンス項目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写真添付機能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カレンダーで日程指定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3734915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管理者ダッシュボード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全40店舗を一覧表示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ガントチャートカレンダー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ステータス別フィルター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無限スクロール対応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743200" cy="3734915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7" name="Text 15"/>
          <p:cNvSpPr/>
          <p:nvPr/>
        </p:nvSpPr>
        <p:spPr>
          <a:xfrm>
            <a:off x="630936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多言語対応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日本語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繁體中文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English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474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言語切替ワンタップ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01752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メンテナンスコール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5577840" y="5532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636406" y="1285534"/>
            <a:ext cx="376184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管理者URL</a:t>
            </a:r>
            <a:endParaRPr lang="en-US" sz="14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98382732-5364-F96A-7D65-59A5517A8B43}"/>
              </a:ext>
            </a:extLst>
          </p:cNvPr>
          <p:cNvSpPr/>
          <p:nvPr/>
        </p:nvSpPr>
        <p:spPr>
          <a:xfrm>
            <a:off x="916165" y="1295109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全店操作URL</a:t>
            </a:r>
            <a:endParaRPr lang="en-US" sz="1400" dirty="0"/>
          </a:p>
        </p:txBody>
      </p:sp>
      <p:pic>
        <p:nvPicPr>
          <p:cNvPr id="6" name="図 5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A517480-3EBB-8D00-BE4B-C556A978A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29" y="1746625"/>
            <a:ext cx="2619514" cy="2619514"/>
          </a:xfrm>
          <a:prstGeom prst="rect">
            <a:avLst/>
          </a:prstGeom>
        </p:spPr>
      </p:pic>
      <p:pic>
        <p:nvPicPr>
          <p:cNvPr id="10" name="図 9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F4ADECEA-28E5-95FE-87FC-5D1C1C728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8462" y="1737049"/>
            <a:ext cx="2619515" cy="2619515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E0179954-556D-43F6-4C5C-B60980F1D045}"/>
              </a:ext>
            </a:extLst>
          </p:cNvPr>
          <p:cNvSpPr/>
          <p:nvPr/>
        </p:nvSpPr>
        <p:spPr>
          <a:xfrm>
            <a:off x="4779889" y="4292306"/>
            <a:ext cx="41980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</a:t>
            </a:r>
            <a:r>
              <a:rPr lang="en-US" sz="1100" i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sushiro-maintenance.vercel.app</a:t>
            </a:r>
            <a:r>
              <a:rPr lang="en-US" sz="1100" i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/management</a:t>
            </a:r>
            <a:endParaRPr lang="en-US" sz="11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5FD66479-CDBF-74F9-3898-FE5BD6F9FF98}"/>
              </a:ext>
            </a:extLst>
          </p:cNvPr>
          <p:cNvSpPr/>
          <p:nvPr/>
        </p:nvSpPr>
        <p:spPr>
          <a:xfrm>
            <a:off x="1066995" y="4301881"/>
            <a:ext cx="52551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</a:t>
            </a:r>
            <a:r>
              <a:rPr lang="en-US" sz="1100" i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sushiro-maintenance.vercel.app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D07DF-3CCE-DECF-2126-62A146E6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B89193-B957-1994-FE82-C7991A086CBC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9350E59-5C35-8ABA-A806-14E32153868B}"/>
              </a:ext>
            </a:extLst>
          </p:cNvPr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760019-16C3-B954-D8AF-258FA35113E9}"/>
              </a:ext>
            </a:extLst>
          </p:cNvPr>
          <p:cNvSpPr/>
          <p:nvPr/>
        </p:nvSpPr>
        <p:spPr>
          <a:xfrm>
            <a:off x="45720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1F1EED6-9302-A7AD-FFA0-8FFC988D8DB7}"/>
              </a:ext>
            </a:extLst>
          </p:cNvPr>
          <p:cNvSpPr/>
          <p:nvPr/>
        </p:nvSpPr>
        <p:spPr>
          <a:xfrm>
            <a:off x="301752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メンテナンスコール</a:t>
            </a:r>
            <a:endParaRPr lang="en-US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830D3FB-E171-24EE-9D40-7C5AB193B670}"/>
              </a:ext>
            </a:extLst>
          </p:cNvPr>
          <p:cNvSpPr/>
          <p:nvPr/>
        </p:nvSpPr>
        <p:spPr>
          <a:xfrm>
            <a:off x="5577840" y="5532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</a:t>
            </a:r>
            <a:endParaRPr lang="en-US" sz="1000" dirty="0"/>
          </a:p>
        </p:txBody>
      </p:sp>
      <p:pic>
        <p:nvPicPr>
          <p:cNvPr id="15" name="図 14" descr="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5BB68C2-F0D5-F902-3BBF-42C29D6F2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85" b="8365"/>
          <a:stretch>
            <a:fillRect/>
          </a:stretch>
        </p:blipFill>
        <p:spPr>
          <a:xfrm>
            <a:off x="7222552" y="1645920"/>
            <a:ext cx="1738568" cy="2990088"/>
          </a:xfrm>
          <a:prstGeom prst="rect">
            <a:avLst/>
          </a:prstGeom>
        </p:spPr>
      </p:pic>
      <p:pic>
        <p:nvPicPr>
          <p:cNvPr id="17" name="図 16" descr="グラフィカル ユーザー インターフェイス, テキスト, アプリケーション, チャットまたはテキスト メッセージ&#10;&#10;AI 生成コンテンツは誤りを含む可能性があります。">
            <a:extLst>
              <a:ext uri="{FF2B5EF4-FFF2-40B4-BE49-F238E27FC236}">
                <a16:creationId xmlns:a16="http://schemas.microsoft.com/office/drawing/2014/main" id="{582A77BA-7B12-6A84-0878-D047BD612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141" b="8510"/>
          <a:stretch>
            <a:fillRect/>
          </a:stretch>
        </p:blipFill>
        <p:spPr>
          <a:xfrm>
            <a:off x="5095655" y="1586484"/>
            <a:ext cx="1738568" cy="2990088"/>
          </a:xfrm>
          <a:prstGeom prst="rect">
            <a:avLst/>
          </a:prstGeom>
        </p:spPr>
      </p:pic>
      <p:pic>
        <p:nvPicPr>
          <p:cNvPr id="21" name="図 2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1E04EBE-CB62-1C03-ED47-B0CE506F96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02" y="1527048"/>
            <a:ext cx="1783992" cy="305866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4392D06A-B383-28D1-0728-5E2703CEB018}"/>
              </a:ext>
            </a:extLst>
          </p:cNvPr>
          <p:cNvSpPr/>
          <p:nvPr/>
        </p:nvSpPr>
        <p:spPr>
          <a:xfrm>
            <a:off x="1873916" y="11109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管理者ダッシュボード</a:t>
            </a:r>
            <a:endParaRPr lang="en-US" sz="1100" dirty="0"/>
          </a:p>
        </p:txBody>
      </p:sp>
      <p:pic>
        <p:nvPicPr>
          <p:cNvPr id="27" name="図 26" descr="ウォーターフォール図&#10;&#10;AI 生成コンテンツは誤りを含む可能性があります。">
            <a:extLst>
              <a:ext uri="{FF2B5EF4-FFF2-40B4-BE49-F238E27FC236}">
                <a16:creationId xmlns:a16="http://schemas.microsoft.com/office/drawing/2014/main" id="{979FDEA0-6312-DD09-1C7E-03A9C627E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5610" y="1645920"/>
            <a:ext cx="1745572" cy="2990088"/>
          </a:xfrm>
          <a:prstGeom prst="rect">
            <a:avLst/>
          </a:prstGeom>
        </p:spPr>
      </p:pic>
      <p:sp>
        <p:nvSpPr>
          <p:cNvPr id="28" name="Text 4">
            <a:extLst>
              <a:ext uri="{FF2B5EF4-FFF2-40B4-BE49-F238E27FC236}">
                <a16:creationId xmlns:a16="http://schemas.microsoft.com/office/drawing/2014/main" id="{36AD7EDD-6AC4-C204-18CE-0CFB2D11228C}"/>
              </a:ext>
            </a:extLst>
          </p:cNvPr>
          <p:cNvSpPr/>
          <p:nvPr/>
        </p:nvSpPr>
        <p:spPr>
          <a:xfrm>
            <a:off x="4982876" y="1143000"/>
            <a:ext cx="37222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メンテナンス地域選択→内容選択</a:t>
            </a:r>
            <a:endParaRPr lang="en-US" sz="11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EBB6ED6-4FAE-C06E-E19F-7C31CC2699C5}"/>
              </a:ext>
            </a:extLst>
          </p:cNvPr>
          <p:cNvSpPr/>
          <p:nvPr/>
        </p:nvSpPr>
        <p:spPr>
          <a:xfrm>
            <a:off x="-343982" y="1089279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全店舗選択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1229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FF0CD-7D01-7F7F-F2D6-80D475430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C9AC7F-8618-1169-3EBD-57F054C38C3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BE29A9-FCB5-6F33-088E-539FD64C5383}"/>
              </a:ext>
            </a:extLst>
          </p:cNvPr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システム概要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58BAD21-B353-3C7F-8FC2-E16590FE4AC2}"/>
              </a:ext>
            </a:extLst>
          </p:cNvPr>
          <p:cNvSpPr/>
          <p:nvPr/>
        </p:nvSpPr>
        <p:spPr>
          <a:xfrm>
            <a:off x="45720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ダッシュボード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03C8E6A-4582-40CD-A4DE-DBE8D46D9CAB}"/>
              </a:ext>
            </a:extLst>
          </p:cNvPr>
          <p:cNvSpPr/>
          <p:nvPr/>
        </p:nvSpPr>
        <p:spPr>
          <a:xfrm>
            <a:off x="301752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メンテナンスコール</a:t>
            </a:r>
            <a:endParaRPr lang="en-US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F046BF12-B808-3583-8D64-E199F6483412}"/>
              </a:ext>
            </a:extLst>
          </p:cNvPr>
          <p:cNvSpPr/>
          <p:nvPr/>
        </p:nvSpPr>
        <p:spPr>
          <a:xfrm>
            <a:off x="5577840" y="5532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</a:t>
            </a:r>
            <a:endParaRPr lang="en-US" sz="1000" dirty="0"/>
          </a:p>
        </p:txBody>
      </p:sp>
      <p:pic>
        <p:nvPicPr>
          <p:cNvPr id="6" name="図 5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5ACC0E0-5893-95D7-A228-812C70A12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509" y="1522476"/>
            <a:ext cx="1818774" cy="3111246"/>
          </a:xfrm>
          <a:prstGeom prst="rect">
            <a:avLst/>
          </a:prstGeom>
        </p:spPr>
      </p:pic>
      <p:pic>
        <p:nvPicPr>
          <p:cNvPr id="10" name="図 9" descr="カレンダー&#10;&#10;AI 生成コンテンツは誤りを含む可能性があります。">
            <a:extLst>
              <a:ext uri="{FF2B5EF4-FFF2-40B4-BE49-F238E27FC236}">
                <a16:creationId xmlns:a16="http://schemas.microsoft.com/office/drawing/2014/main" id="{3E98BD98-6402-490A-12F6-6219036A7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11" y="1522476"/>
            <a:ext cx="1816303" cy="3111246"/>
          </a:xfrm>
          <a:prstGeom prst="rect">
            <a:avLst/>
          </a:prstGeom>
        </p:spPr>
      </p:pic>
      <p:pic>
        <p:nvPicPr>
          <p:cNvPr id="14" name="図 13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1E11D03-0043-975C-9692-A9D7C7D49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637" y="1531620"/>
            <a:ext cx="1765326" cy="3026664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DAFDF448-72B7-B061-A613-9426B0BC3AFB}"/>
              </a:ext>
            </a:extLst>
          </p:cNvPr>
          <p:cNvSpPr/>
          <p:nvPr/>
        </p:nvSpPr>
        <p:spPr>
          <a:xfrm>
            <a:off x="-1237" y="1195578"/>
            <a:ext cx="37222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状況説明、写真補足→希望期日選定</a:t>
            </a:r>
            <a:endParaRPr lang="en-US" sz="11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C9B3BEEE-8407-B581-F2A7-0EF6BA6562C1}"/>
              </a:ext>
            </a:extLst>
          </p:cNvPr>
          <p:cNvSpPr/>
          <p:nvPr/>
        </p:nvSpPr>
        <p:spPr>
          <a:xfrm>
            <a:off x="2769256" y="1195578"/>
            <a:ext cx="37222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希望期日選定→最終確認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70952A6C-D8CB-B950-A39F-961F309E95A4}"/>
              </a:ext>
            </a:extLst>
          </p:cNvPr>
          <p:cNvSpPr/>
          <p:nvPr/>
        </p:nvSpPr>
        <p:spPr>
          <a:xfrm>
            <a:off x="5538514" y="1204722"/>
            <a:ext cx="37222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最終確認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</a:t>
            </a:r>
            <a:r>
              <a:rPr lang="en-US" sz="1100" b="1" dirty="0" err="1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</a:t>
            </a: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2533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対象店舗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1" y="1482648"/>
            <a:ext cx="2743200" cy="1034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906859" y="1802193"/>
            <a:ext cx="828907" cy="344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858430" y="1818114"/>
            <a:ext cx="947854" cy="2758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香港全域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1" y="3516816"/>
            <a:ext cx="2642839" cy="10909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906859" y="3785190"/>
            <a:ext cx="828907" cy="363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種類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735766" y="3785190"/>
            <a:ext cx="1635513" cy="2909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メンテナンス項目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4826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地区別内訳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18266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182666"/>
            <a:ext cx="2743200" cy="45720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13" name="Shape 11"/>
          <p:cNvSpPr/>
          <p:nvPr/>
        </p:nvSpPr>
        <p:spPr>
          <a:xfrm>
            <a:off x="5943600" y="2182666"/>
            <a:ext cx="2743200" cy="4572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14" name="Text 12"/>
          <p:cNvSpPr/>
          <p:nvPr/>
        </p:nvSpPr>
        <p:spPr>
          <a:xfrm>
            <a:off x="5943600" y="218266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20店舗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09706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九龍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3097066"/>
            <a:ext cx="2743200" cy="45720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17" name="Shape 15"/>
          <p:cNvSpPr/>
          <p:nvPr/>
        </p:nvSpPr>
        <p:spPr>
          <a:xfrm>
            <a:off x="5943600" y="3097066"/>
            <a:ext cx="2194560" cy="4572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18" name="Text 16"/>
          <p:cNvSpPr/>
          <p:nvPr/>
        </p:nvSpPr>
        <p:spPr>
          <a:xfrm>
            <a:off x="5943600" y="309706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16店舗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01146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香港島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4011466"/>
            <a:ext cx="2194560" cy="457200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21" name="Shape 19"/>
          <p:cNvSpPr/>
          <p:nvPr/>
        </p:nvSpPr>
        <p:spPr>
          <a:xfrm>
            <a:off x="5943600" y="4011466"/>
            <a:ext cx="548640" cy="4572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22" name="Text 20"/>
          <p:cNvSpPr/>
          <p:nvPr/>
        </p:nvSpPr>
        <p:spPr>
          <a:xfrm>
            <a:off x="5943599" y="4011466"/>
            <a:ext cx="6207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4店舗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連携パートナー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LIFESUPPORT (HK) LIMITED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総合設備メンテナンス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電気・空調・給排水・内装など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幅広い設備に対応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32004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5603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厨房機器メンテナンス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寿司レーン・冷蔵設備など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専門機器に対応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導入スケジュール（案）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7261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パイロット導入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 1〜2ヶ月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474720" cy="45720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5店舗（新界エリア選抜）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1387" y="29260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システム検証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フィードバック収集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マニュアル作成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業者連携テスト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37261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1E3A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全店展開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期間: 2〜3ヶ月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2743200"/>
            <a:ext cx="3474720" cy="45720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対象: 全40店舗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10507" y="29260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全店舗への導入・研修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本格運用開始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効果測定・KPI設定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継続的改善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27432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期待される効果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連絡調整工数削減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電話・メール不要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全店舗可視化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リアルタイム管理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データ活用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傾向分析・予防保全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31821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49758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対応スピード向上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4622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写真付き即時共有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3131821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7" name="Text 15"/>
          <p:cNvSpPr/>
          <p:nvPr/>
        </p:nvSpPr>
        <p:spPr>
          <a:xfrm>
            <a:off x="3383280" y="349758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コスト最適化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404622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重複発注防止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131821"/>
            <a:ext cx="2743200" cy="1828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20" name="Text 18"/>
          <p:cNvSpPr/>
          <p:nvPr/>
        </p:nvSpPr>
        <p:spPr>
          <a:xfrm>
            <a:off x="6309360" y="349758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1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言語バリア解消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04622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3言語対応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735873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FOOD &amp; LIFE COMPANIESのDX戦略に則り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店舗オペレーションの最適化・自動化を実現する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メンテナンス管理プラットフォームをご提案いたします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LIFESUPPORT (HK) LIMITED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367</Words>
  <Application>Microsoft Macintosh PowerPoint</Application>
  <PresentationFormat>画面に合わせる (16:9)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LIFESUPPORT (HK)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壽司郎香港 店舗メンテナンス管理システム</dc:title>
  <dc:subject>提案書</dc:subject>
  <dc:creator>LIFESUPPORT (HK) LIMITED</dc:creator>
  <cp:lastModifiedBy>hiroki sakon</cp:lastModifiedBy>
  <cp:revision>4</cp:revision>
  <dcterms:created xsi:type="dcterms:W3CDTF">2026-01-13T04:55:25Z</dcterms:created>
  <dcterms:modified xsi:type="dcterms:W3CDTF">2026-01-13T05:45:49Z</dcterms:modified>
</cp:coreProperties>
</file>