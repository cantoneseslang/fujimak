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8" r:id="rId8"/>
    <p:sldId id="269" r:id="rId9"/>
    <p:sldId id="262" r:id="rId10"/>
    <p:sldId id="263" r:id="rId11"/>
    <p:sldId id="264" r:id="rId12"/>
    <p:sldId id="265" r:id="rId13"/>
    <p:sldId id="266" r:id="rId14"/>
    <p:sldId id="267" r:id="rId15"/>
  </p:sldIdLst>
  <p:sldSz cx="10688638" cy="7562850"/>
  <p:notesSz cx="7562850" cy="1068863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1"/>
    <p:restoredTop sz="94610"/>
  </p:normalViewPr>
  <p:slideViewPr>
    <p:cSldViewPr snapToGrid="0" snapToObjects="1">
      <p:cViewPr>
        <p:scale>
          <a:sx n="131" d="100"/>
          <a:sy n="131" d="100"/>
        </p:scale>
        <p:origin x="992" y="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94963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g"/><Relationship Id="rId3" Type="http://schemas.openxmlformats.org/officeDocument/2006/relationships/image" Target="../media/image1.png"/><Relationship Id="rId7" Type="http://schemas.openxmlformats.org/officeDocument/2006/relationships/image" Target="../media/image2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4.png"/><Relationship Id="rId9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274320" y="570631"/>
            <a:ext cx="1068863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MainT-AI fujimak ver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0" y="1253082"/>
            <a:ext cx="1068863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 err="1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システム紹介</a:t>
            </a:r>
            <a:endParaRPr lang="en-US" b="1" dirty="0"/>
          </a:p>
        </p:txBody>
      </p:sp>
      <p:pic>
        <p:nvPicPr>
          <p:cNvPr id="6" name="Image 1" descr="/Users/sakonhiroki/Library/CloudStorage/GoogleDrive-bestinksalesman@gmail.com/マイドライブ/KIRII/吉沢さん案件/fujimak/cl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2754" y="2055746"/>
            <a:ext cx="1877962" cy="187796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812754" y="708982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作成日: 2026/03/30</a:t>
            </a:r>
            <a:endParaRPr lang="en-US" sz="900" dirty="0"/>
          </a:p>
        </p:txBody>
      </p:sp>
      <p:pic>
        <p:nvPicPr>
          <p:cNvPr id="13" name="図 12">
            <a:extLst>
              <a:ext uri="{FF2B5EF4-FFF2-40B4-BE49-F238E27FC236}">
                <a16:creationId xmlns:a16="http://schemas.microsoft.com/office/drawing/2014/main" id="{D570020E-1718-01A9-1BA0-B10FC98131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7808" y="2031969"/>
            <a:ext cx="3315733" cy="2098237"/>
          </a:xfrm>
          <a:prstGeom prst="rect">
            <a:avLst/>
          </a:prstGeom>
        </p:spPr>
      </p:pic>
      <p:pic>
        <p:nvPicPr>
          <p:cNvPr id="15" name="図 14">
            <a:extLst>
              <a:ext uri="{FF2B5EF4-FFF2-40B4-BE49-F238E27FC236}">
                <a16:creationId xmlns:a16="http://schemas.microsoft.com/office/drawing/2014/main" id="{42476C9C-6EB2-ED2F-F6B7-0E491D541F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12882" y="4189553"/>
            <a:ext cx="2834640" cy="1793795"/>
          </a:xfrm>
          <a:prstGeom prst="rect">
            <a:avLst/>
          </a:prstGeom>
        </p:spPr>
      </p:pic>
      <p:sp>
        <p:nvSpPr>
          <p:cNvPr id="16" name="TextBox 6">
            <a:extLst>
              <a:ext uri="{FF2B5EF4-FFF2-40B4-BE49-F238E27FC236}">
                <a16:creationId xmlns:a16="http://schemas.microsoft.com/office/drawing/2014/main" id="{F5BE6BB4-6763-92C3-9A99-F7A7D3439E55}"/>
              </a:ext>
            </a:extLst>
          </p:cNvPr>
          <p:cNvSpPr txBox="1"/>
          <p:nvPr/>
        </p:nvSpPr>
        <p:spPr>
          <a:xfrm>
            <a:off x="1076674" y="7272700"/>
            <a:ext cx="9509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dirty="0">
                <a:solidFill>
                  <a:srgbClr val="667694"/>
                </a:solidFill>
                <a:latin typeface="Meiryo"/>
              </a:rPr>
              <a:t>© 2024 LIFESUPPORT(HK) All Right Reserved.</a:t>
            </a:r>
          </a:p>
        </p:txBody>
      </p:sp>
      <p:sp>
        <p:nvSpPr>
          <p:cNvPr id="18" name="Shape 0">
            <a:extLst>
              <a:ext uri="{FF2B5EF4-FFF2-40B4-BE49-F238E27FC236}">
                <a16:creationId xmlns:a16="http://schemas.microsoft.com/office/drawing/2014/main" id="{A739726B-9934-983E-046D-BCBC0A167761}"/>
              </a:ext>
            </a:extLst>
          </p:cNvPr>
          <p:cNvSpPr/>
          <p:nvPr/>
        </p:nvSpPr>
        <p:spPr>
          <a:xfrm>
            <a:off x="0" y="0"/>
            <a:ext cx="10689336" cy="137160"/>
          </a:xfrm>
          <a:prstGeom prst="rect">
            <a:avLst/>
          </a:prstGeom>
          <a:solidFill>
            <a:schemeClr val="tx1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ja-HK" altLang="en-US" dirty="0"/>
          </a:p>
        </p:txBody>
      </p:sp>
      <p:pic>
        <p:nvPicPr>
          <p:cNvPr id="20" name="図 19" descr="グラフィカル ユーザー インターフェイス, アプリケーション&#10;&#10;AI 生成コンテンツは誤りを含む可能性があります。">
            <a:extLst>
              <a:ext uri="{FF2B5EF4-FFF2-40B4-BE49-F238E27FC236}">
                <a16:creationId xmlns:a16="http://schemas.microsoft.com/office/drawing/2014/main" id="{10588EBE-AC40-CEAD-FE97-03E031B87C5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7647" t="5253" r="14640" b="18365"/>
          <a:stretch>
            <a:fillRect/>
          </a:stretch>
        </p:blipFill>
        <p:spPr>
          <a:xfrm>
            <a:off x="7334400" y="3616338"/>
            <a:ext cx="2899673" cy="1635467"/>
          </a:xfrm>
          <a:prstGeom prst="rect">
            <a:avLst/>
          </a:prstGeom>
        </p:spPr>
      </p:pic>
      <p:pic>
        <p:nvPicPr>
          <p:cNvPr id="21" name="Image 1" descr="/Users/sakonhiroki/Library/CloudStorage/GoogleDrive-bestinksalesman@gmail.com/マイドライブ/KIRII/吉沢さん案件/fujimak/cloud.png">
            <a:extLst>
              <a:ext uri="{FF2B5EF4-FFF2-40B4-BE49-F238E27FC236}">
                <a16:creationId xmlns:a16="http://schemas.microsoft.com/office/drawing/2014/main" id="{A861651D-1883-10ED-F22B-48B4E49802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3695" y="308759"/>
            <a:ext cx="1117753" cy="1117753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CD6ED4FD-4E16-F041-118C-284A7B5745F1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9867" t="13113" r="40616" b="14173"/>
          <a:stretch>
            <a:fillRect/>
          </a:stretch>
        </p:blipFill>
        <p:spPr>
          <a:xfrm>
            <a:off x="1369336" y="2473482"/>
            <a:ext cx="1842443" cy="343214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89336" cy="137160"/>
          </a:xfrm>
          <a:prstGeom prst="rect">
            <a:avLst/>
          </a:prstGeom>
          <a:solidFill>
            <a:schemeClr val="tx1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ja-HK" alt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219456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運用フロー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iPhone及びアンドロイドモバイルの基本操作の全体像</a:t>
            </a:r>
            <a:endParaRPr lang="en-US" sz="1200" dirty="0"/>
          </a:p>
        </p:txBody>
      </p:sp>
      <p:sp>
        <p:nvSpPr>
          <p:cNvPr id="18" name="TextBox 6">
            <a:extLst>
              <a:ext uri="{FF2B5EF4-FFF2-40B4-BE49-F238E27FC236}">
                <a16:creationId xmlns:a16="http://schemas.microsoft.com/office/drawing/2014/main" id="{BDAB57FE-A129-B69F-A5E8-964B5153091A}"/>
              </a:ext>
            </a:extLst>
          </p:cNvPr>
          <p:cNvSpPr txBox="1"/>
          <p:nvPr/>
        </p:nvSpPr>
        <p:spPr>
          <a:xfrm>
            <a:off x="1076674" y="7272700"/>
            <a:ext cx="9509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dirty="0">
                <a:solidFill>
                  <a:srgbClr val="667694"/>
                </a:solidFill>
                <a:latin typeface="Meiryo"/>
              </a:rPr>
              <a:t>© 2024 LIFESUPPORT(HK) All Right Reserved.</a:t>
            </a:r>
          </a:p>
        </p:txBody>
      </p:sp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AE65D64B-113D-9A82-D877-43E0B44C760D}"/>
              </a:ext>
            </a:extLst>
          </p:cNvPr>
          <p:cNvGrpSpPr/>
          <p:nvPr/>
        </p:nvGrpSpPr>
        <p:grpSpPr>
          <a:xfrm>
            <a:off x="1632392" y="4019623"/>
            <a:ext cx="7888036" cy="2564075"/>
            <a:chOff x="1632392" y="4019623"/>
            <a:chExt cx="7888036" cy="2564075"/>
          </a:xfrm>
        </p:grpSpPr>
        <p:sp>
          <p:nvSpPr>
            <p:cNvPr id="11" name="Text 6"/>
            <p:cNvSpPr/>
            <p:nvPr/>
          </p:nvSpPr>
          <p:spPr>
            <a:xfrm>
              <a:off x="1693018" y="6400818"/>
              <a:ext cx="1097280" cy="1828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334155"/>
                  </a:solidFill>
                  <a:latin typeface="Meiryo" pitchFamily="34" charset="0"/>
                  <a:ea typeface="Meiryo" pitchFamily="34" charset="-122"/>
                  <a:cs typeface="Meiryo" pitchFamily="34" charset="-120"/>
                </a:rPr>
                <a:t>現場入力</a:t>
              </a:r>
              <a:endParaRPr lang="en-US" sz="1600" dirty="0"/>
            </a:p>
          </p:txBody>
        </p:sp>
        <p:sp>
          <p:nvSpPr>
            <p:cNvPr id="12" name="Text 7"/>
            <p:cNvSpPr/>
            <p:nvPr/>
          </p:nvSpPr>
          <p:spPr>
            <a:xfrm>
              <a:off x="4502674" y="6400818"/>
              <a:ext cx="1737360" cy="1828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334155"/>
                  </a:solidFill>
                  <a:latin typeface="Meiryo" pitchFamily="34" charset="0"/>
                  <a:ea typeface="Meiryo" pitchFamily="34" charset="-122"/>
                  <a:cs typeface="Meiryo" pitchFamily="34" charset="-120"/>
                </a:rPr>
                <a:t>クラウド処理</a:t>
              </a:r>
              <a:endParaRPr lang="en-US" sz="1600" dirty="0"/>
            </a:p>
          </p:txBody>
        </p:sp>
        <p:sp>
          <p:nvSpPr>
            <p:cNvPr id="13" name="Text 8"/>
            <p:cNvSpPr/>
            <p:nvPr/>
          </p:nvSpPr>
          <p:spPr>
            <a:xfrm>
              <a:off x="7977394" y="6400818"/>
              <a:ext cx="1097280" cy="1828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334155"/>
                  </a:solidFill>
                  <a:latin typeface="Meiryo" pitchFamily="34" charset="0"/>
                  <a:ea typeface="Meiryo" pitchFamily="34" charset="-122"/>
                  <a:cs typeface="Meiryo" pitchFamily="34" charset="-120"/>
                </a:rPr>
                <a:t>管理確認</a:t>
              </a:r>
              <a:endParaRPr lang="en-US" sz="1600" dirty="0"/>
            </a:p>
          </p:txBody>
        </p:sp>
        <p:pic>
          <p:nvPicPr>
            <p:cNvPr id="8" name="Image 2" descr="/Users/sakonhiroki/Library/CloudStorage/GoogleDrive-bestinksalesman@gmail.com/マイドライブ/KIRII/吉沢さん案件/fujimak/PC.png"/>
            <p:cNvPicPr>
              <a:picLocks noChangeAspect="1"/>
            </p:cNvPicPr>
            <p:nvPr/>
          </p:nvPicPr>
          <p:blipFill>
            <a:blip r:embed="rId3"/>
            <a:srcRect l="14684" r="15945" b="15602"/>
            <a:stretch>
              <a:fillRect/>
            </a:stretch>
          </p:blipFill>
          <p:spPr>
            <a:xfrm>
              <a:off x="7285759" y="4327514"/>
              <a:ext cx="2234669" cy="1480028"/>
            </a:xfrm>
            <a:prstGeom prst="rect">
              <a:avLst/>
            </a:prstGeom>
          </p:spPr>
        </p:pic>
        <p:sp>
          <p:nvSpPr>
            <p:cNvPr id="9" name="Shape 4"/>
            <p:cNvSpPr/>
            <p:nvPr/>
          </p:nvSpPr>
          <p:spPr>
            <a:xfrm flipV="1">
              <a:off x="2517119" y="5126952"/>
              <a:ext cx="1901496" cy="2"/>
            </a:xfrm>
            <a:prstGeom prst="line">
              <a:avLst/>
            </a:prstGeom>
            <a:noFill/>
            <a:ln w="12700">
              <a:solidFill>
                <a:srgbClr val="2563EB"/>
              </a:solidFill>
              <a:prstDash val="solid"/>
            </a:ln>
          </p:spPr>
          <p:txBody>
            <a:bodyPr/>
            <a:lstStyle/>
            <a:p>
              <a:endParaRPr lang="ja-HK" altLang="en-US"/>
            </a:p>
          </p:txBody>
        </p:sp>
        <p:sp>
          <p:nvSpPr>
            <p:cNvPr id="10" name="Shape 5"/>
            <p:cNvSpPr/>
            <p:nvPr/>
          </p:nvSpPr>
          <p:spPr>
            <a:xfrm flipV="1">
              <a:off x="6155974" y="5126952"/>
              <a:ext cx="1521912" cy="1"/>
            </a:xfrm>
            <a:prstGeom prst="line">
              <a:avLst/>
            </a:prstGeom>
            <a:noFill/>
            <a:ln w="12700">
              <a:solidFill>
                <a:srgbClr val="2563EB"/>
              </a:solidFill>
              <a:prstDash val="solid"/>
            </a:ln>
          </p:spPr>
          <p:txBody>
            <a:bodyPr/>
            <a:lstStyle/>
            <a:p>
              <a:endParaRPr lang="ja-HK" altLang="en-US"/>
            </a:p>
          </p:txBody>
        </p:sp>
        <p:pic>
          <p:nvPicPr>
            <p:cNvPr id="7" name="Image 1" descr="/Users/sakonhiroki/Library/CloudStorage/GoogleDrive-bestinksalesman@gmail.com/マイドライブ/KIRII/吉沢さん案件/fujimak/cloud.png"/>
            <p:cNvPicPr>
              <a:picLocks noChangeAspect="1"/>
            </p:cNvPicPr>
            <p:nvPr/>
          </p:nvPicPr>
          <p:blipFill>
            <a:blip r:embed="rId4"/>
            <a:srcRect t="12989" r="3555" b="13735"/>
            <a:stretch>
              <a:fillRect/>
            </a:stretch>
          </p:blipFill>
          <p:spPr>
            <a:xfrm>
              <a:off x="4192022" y="4269395"/>
              <a:ext cx="2234669" cy="1697818"/>
            </a:xfrm>
            <a:prstGeom prst="rect">
              <a:avLst/>
            </a:prstGeom>
          </p:spPr>
        </p:pic>
        <p:pic>
          <p:nvPicPr>
            <p:cNvPr id="6" name="図 5">
              <a:extLst>
                <a:ext uri="{FF2B5EF4-FFF2-40B4-BE49-F238E27FC236}">
                  <a16:creationId xmlns:a16="http://schemas.microsoft.com/office/drawing/2014/main" id="{58876E03-8FFA-EBA2-C183-0EFDB827D6B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39867" t="13113" r="40616" b="14173"/>
            <a:stretch>
              <a:fillRect/>
            </a:stretch>
          </p:blipFill>
          <p:spPr>
            <a:xfrm>
              <a:off x="1632392" y="4019623"/>
              <a:ext cx="1103108" cy="2054893"/>
            </a:xfrm>
            <a:prstGeom prst="rect">
              <a:avLst/>
            </a:prstGeom>
          </p:spPr>
        </p:pic>
      </p:grpSp>
      <p:sp>
        <p:nvSpPr>
          <p:cNvPr id="5" name="Text 3"/>
          <p:cNvSpPr/>
          <p:nvPr/>
        </p:nvSpPr>
        <p:spPr>
          <a:xfrm>
            <a:off x="279472" y="1359346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563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1) 店舗選択 → ダッシュボード → メンテ依頼 → 履歴確認 → 管理連携</a:t>
            </a:r>
            <a:endParaRPr lang="en-US" sz="1900" dirty="0"/>
          </a:p>
        </p:txBody>
      </p:sp>
      <p:sp>
        <p:nvSpPr>
          <p:cNvPr id="14" name="Text 3">
            <a:extLst>
              <a:ext uri="{FF2B5EF4-FFF2-40B4-BE49-F238E27FC236}">
                <a16:creationId xmlns:a16="http://schemas.microsoft.com/office/drawing/2014/main" id="{50E970E9-8792-AD50-4896-B663E665FE1C}"/>
              </a:ext>
            </a:extLst>
          </p:cNvPr>
          <p:cNvSpPr/>
          <p:nvPr/>
        </p:nvSpPr>
        <p:spPr>
          <a:xfrm>
            <a:off x="432990" y="1925803"/>
            <a:ext cx="9418320" cy="415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900" b="1" dirty="0">
                <a:solidFill>
                  <a:srgbClr val="2563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2) 店舗選択 → ダッシュボード → AIチャット →</a:t>
            </a:r>
            <a:r>
              <a:rPr lang="en-US" altLang="ja-HK" sz="1900" b="1" dirty="0">
                <a:solidFill>
                  <a:srgbClr val="2563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メンテ依頼 </a:t>
            </a:r>
            <a:r>
              <a:rPr lang="en-US" sz="1900" b="1" dirty="0">
                <a:solidFill>
                  <a:srgbClr val="2563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管理連携</a:t>
            </a:r>
            <a:endParaRPr lang="en-US" sz="1900" dirty="0"/>
          </a:p>
        </p:txBody>
      </p:sp>
      <p:sp>
        <p:nvSpPr>
          <p:cNvPr id="17" name="Text 3">
            <a:extLst>
              <a:ext uri="{FF2B5EF4-FFF2-40B4-BE49-F238E27FC236}">
                <a16:creationId xmlns:a16="http://schemas.microsoft.com/office/drawing/2014/main" id="{36F42C16-52B4-4AA4-64A6-A90377862E0D}"/>
              </a:ext>
            </a:extLst>
          </p:cNvPr>
          <p:cNvSpPr/>
          <p:nvPr/>
        </p:nvSpPr>
        <p:spPr>
          <a:xfrm>
            <a:off x="772816" y="2462277"/>
            <a:ext cx="9418320" cy="415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900" b="1" dirty="0">
                <a:solidFill>
                  <a:srgbClr val="2563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3) メカニック作業 → ビフォーアフター報告 →</a:t>
            </a:r>
            <a:r>
              <a:rPr lang="en-US" altLang="ja-HK" sz="1900" b="1" dirty="0">
                <a:solidFill>
                  <a:srgbClr val="2563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</a:t>
            </a:r>
            <a:r>
              <a:rPr lang="ja-HK" altLang="en-US" sz="1900" b="1" dirty="0">
                <a:solidFill>
                  <a:srgbClr val="2563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検収作業書自動作成</a:t>
            </a:r>
            <a:r>
              <a:rPr lang="en-US" sz="1900" b="1" dirty="0">
                <a:solidFill>
                  <a:srgbClr val="2563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管理連携</a:t>
            </a:r>
            <a:endParaRPr lang="en-US" sz="1900" dirty="0"/>
          </a:p>
        </p:txBody>
      </p:sp>
      <p:sp>
        <p:nvSpPr>
          <p:cNvPr id="20" name="Text 3">
            <a:extLst>
              <a:ext uri="{FF2B5EF4-FFF2-40B4-BE49-F238E27FC236}">
                <a16:creationId xmlns:a16="http://schemas.microsoft.com/office/drawing/2014/main" id="{7FDA67FF-FAAB-D447-0039-C34601B248F3}"/>
              </a:ext>
            </a:extLst>
          </p:cNvPr>
          <p:cNvSpPr/>
          <p:nvPr/>
        </p:nvSpPr>
        <p:spPr>
          <a:xfrm>
            <a:off x="1045501" y="3000210"/>
            <a:ext cx="9418320" cy="415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900" b="1" dirty="0">
                <a:solidFill>
                  <a:srgbClr val="2563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4) 備品ネット発注 → 備品ネット受注 → 管理連携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89336" cy="137160"/>
          </a:xfrm>
          <a:prstGeom prst="rect">
            <a:avLst/>
          </a:prstGeom>
          <a:solidFill>
            <a:schemeClr val="tx1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ja-HK" altLang="en-US"/>
          </a:p>
        </p:txBody>
      </p:sp>
      <p:sp>
        <p:nvSpPr>
          <p:cNvPr id="3" name="Text 1"/>
          <p:cNvSpPr/>
          <p:nvPr/>
        </p:nvSpPr>
        <p:spPr>
          <a:xfrm>
            <a:off x="457200" y="219456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画面1: 店舗選択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最初に作業対象の店舗を選択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4360" y="1097280"/>
            <a:ext cx="3749040" cy="6126480"/>
          </a:xfrm>
          <a:prstGeom prst="roundRect">
            <a:avLst>
              <a:gd name="adj" fmla="val 2439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HK" altLang="en-US"/>
          </a:p>
        </p:txBody>
      </p:sp>
      <p:pic>
        <p:nvPicPr>
          <p:cNvPr id="6" name="Image 0" descr="/Users/sakonhiroki/fujimak-maintenance/docs/ppt-assets-mobile/stor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1325880"/>
            <a:ext cx="2971800" cy="5623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87552" y="7004304"/>
            <a:ext cx="2971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iPhone表示イメージ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0" y="1097280"/>
            <a:ext cx="5486400" cy="612648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HK" altLang="en-US"/>
          </a:p>
        </p:txBody>
      </p:sp>
      <p:sp>
        <p:nvSpPr>
          <p:cNvPr id="9" name="Text 6"/>
          <p:cNvSpPr/>
          <p:nvPr/>
        </p:nvSpPr>
        <p:spPr>
          <a:xfrm>
            <a:off x="4800600" y="13258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563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この画面で行うこと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4828032" y="1783080"/>
            <a:ext cx="489204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地域フィルタで対象エリアを絞り込み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店舗名を検索して選択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選択後、ダッシュボードへ移動</a:t>
            </a:r>
            <a:endParaRPr lang="en-US" sz="1400" dirty="0"/>
          </a:p>
        </p:txBody>
      </p:sp>
      <p:sp>
        <p:nvSpPr>
          <p:cNvPr id="15" name="TextBox 6">
            <a:extLst>
              <a:ext uri="{FF2B5EF4-FFF2-40B4-BE49-F238E27FC236}">
                <a16:creationId xmlns:a16="http://schemas.microsoft.com/office/drawing/2014/main" id="{F04071E4-0799-D6CC-D4E2-684D6170F603}"/>
              </a:ext>
            </a:extLst>
          </p:cNvPr>
          <p:cNvSpPr txBox="1"/>
          <p:nvPr/>
        </p:nvSpPr>
        <p:spPr>
          <a:xfrm>
            <a:off x="1076674" y="7272700"/>
            <a:ext cx="9509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dirty="0">
                <a:solidFill>
                  <a:srgbClr val="667694"/>
                </a:solidFill>
                <a:latin typeface="Meiryo"/>
              </a:rPr>
              <a:t>© 2024 LIFESUPPORT(HK) All Right Reserved.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89336" cy="137160"/>
          </a:xfrm>
          <a:prstGeom prst="rect">
            <a:avLst/>
          </a:prstGeom>
          <a:solidFill>
            <a:schemeClr val="tx1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ja-HK" altLang="en-US"/>
          </a:p>
        </p:txBody>
      </p:sp>
      <p:sp>
        <p:nvSpPr>
          <p:cNvPr id="3" name="Text 1"/>
          <p:cNvSpPr/>
          <p:nvPr/>
        </p:nvSpPr>
        <p:spPr>
          <a:xfrm>
            <a:off x="457200" y="219456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画面2: ダッシュボード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主要メニューから業務を開始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4360" y="1097280"/>
            <a:ext cx="3749040" cy="6126480"/>
          </a:xfrm>
          <a:prstGeom prst="roundRect">
            <a:avLst>
              <a:gd name="adj" fmla="val 2439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HK" altLang="en-US"/>
          </a:p>
        </p:txBody>
      </p:sp>
      <p:sp>
        <p:nvSpPr>
          <p:cNvPr id="7" name="Text 4"/>
          <p:cNvSpPr/>
          <p:nvPr/>
        </p:nvSpPr>
        <p:spPr>
          <a:xfrm>
            <a:off x="987552" y="7004304"/>
            <a:ext cx="2971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iPhone表示イメージ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0" y="1097280"/>
            <a:ext cx="5486400" cy="612648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HK" altLang="en-US"/>
          </a:p>
        </p:txBody>
      </p:sp>
      <p:sp>
        <p:nvSpPr>
          <p:cNvPr id="9" name="Text 6"/>
          <p:cNvSpPr/>
          <p:nvPr/>
        </p:nvSpPr>
        <p:spPr>
          <a:xfrm>
            <a:off x="4800600" y="13258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563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この画面で行うこと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4828032" y="1783080"/>
            <a:ext cx="489204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「New Maintenance Call」で新規依頼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「View History」で過去ログ確認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「Notifications」で進捗通知を確認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画面下ナビでいつでも主要画面へ移動</a:t>
            </a:r>
            <a:endParaRPr lang="en-US" sz="1400" dirty="0"/>
          </a:p>
        </p:txBody>
      </p:sp>
      <p:sp>
        <p:nvSpPr>
          <p:cNvPr id="15" name="TextBox 6">
            <a:extLst>
              <a:ext uri="{FF2B5EF4-FFF2-40B4-BE49-F238E27FC236}">
                <a16:creationId xmlns:a16="http://schemas.microsoft.com/office/drawing/2014/main" id="{10B6AAF9-44F4-6C44-15A4-44C841BF2537}"/>
              </a:ext>
            </a:extLst>
          </p:cNvPr>
          <p:cNvSpPr txBox="1"/>
          <p:nvPr/>
        </p:nvSpPr>
        <p:spPr>
          <a:xfrm>
            <a:off x="1076674" y="7285579"/>
            <a:ext cx="9509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dirty="0">
                <a:solidFill>
                  <a:srgbClr val="667694"/>
                </a:solidFill>
                <a:latin typeface="Meiryo"/>
              </a:rPr>
              <a:t>© 2024 LIFESUPPORT(HK) All Right Reserved.</a:t>
            </a:r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3ADDEB00-E658-4BD7-5314-0FA25B20935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94" t="-124" b="1"/>
          <a:stretch>
            <a:fillRect/>
          </a:stretch>
        </p:blipFill>
        <p:spPr>
          <a:xfrm>
            <a:off x="968566" y="1234441"/>
            <a:ext cx="3063043" cy="563346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89336" cy="137160"/>
          </a:xfrm>
          <a:prstGeom prst="rect">
            <a:avLst/>
          </a:prstGeom>
          <a:solidFill>
            <a:schemeClr val="tx1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ja-HK" altLang="en-US"/>
          </a:p>
        </p:txBody>
      </p:sp>
      <p:sp>
        <p:nvSpPr>
          <p:cNvPr id="3" name="Text 1"/>
          <p:cNvSpPr/>
          <p:nvPr/>
        </p:nvSpPr>
        <p:spPr>
          <a:xfrm>
            <a:off x="457200" y="219456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画面3: メンテナンス依頼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機器・症状・緊急度をステップ入力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4360" y="1097280"/>
            <a:ext cx="3749040" cy="6126480"/>
          </a:xfrm>
          <a:prstGeom prst="roundRect">
            <a:avLst>
              <a:gd name="adj" fmla="val 2439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HK" altLang="en-US"/>
          </a:p>
        </p:txBody>
      </p:sp>
      <p:pic>
        <p:nvPicPr>
          <p:cNvPr id="6" name="Image 0" descr="/Users/sakonhiroki/fujimak-maintenance/docs/ppt-assets-mobile/mainten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1325880"/>
            <a:ext cx="2971800" cy="5623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87552" y="7004304"/>
            <a:ext cx="2971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iPhone表示イメージ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0" y="1097280"/>
            <a:ext cx="5486400" cy="612648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HK" altLang="en-US"/>
          </a:p>
        </p:txBody>
      </p:sp>
      <p:sp>
        <p:nvSpPr>
          <p:cNvPr id="9" name="Text 6"/>
          <p:cNvSpPr/>
          <p:nvPr/>
        </p:nvSpPr>
        <p:spPr>
          <a:xfrm>
            <a:off x="4800600" y="13258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563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この画面で行うこと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4828032" y="1783080"/>
            <a:ext cx="489204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機器/シリアルを選択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故障箇所・症状を入力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緊急度と希望日時を設定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送信して管理側に連携</a:t>
            </a:r>
            <a:endParaRPr lang="en-US" sz="1400" dirty="0"/>
          </a:p>
        </p:txBody>
      </p:sp>
      <p:sp>
        <p:nvSpPr>
          <p:cNvPr id="11" name="TextBox 6">
            <a:extLst>
              <a:ext uri="{FF2B5EF4-FFF2-40B4-BE49-F238E27FC236}">
                <a16:creationId xmlns:a16="http://schemas.microsoft.com/office/drawing/2014/main" id="{69C00634-E069-9884-8F7F-9E570E485D52}"/>
              </a:ext>
            </a:extLst>
          </p:cNvPr>
          <p:cNvSpPr txBox="1"/>
          <p:nvPr/>
        </p:nvSpPr>
        <p:spPr>
          <a:xfrm>
            <a:off x="1076674" y="7285579"/>
            <a:ext cx="9509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dirty="0">
                <a:solidFill>
                  <a:srgbClr val="667694"/>
                </a:solidFill>
                <a:latin typeface="Meiryo"/>
              </a:rPr>
              <a:t>© 2024 LIFESUPPORT(HK) All Right Reserved.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89336" cy="137160"/>
          </a:xfrm>
          <a:prstGeom prst="rect">
            <a:avLst/>
          </a:prstGeom>
          <a:solidFill>
            <a:schemeClr val="tx1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ja-HK" altLang="en-US"/>
          </a:p>
        </p:txBody>
      </p:sp>
      <p:sp>
        <p:nvSpPr>
          <p:cNvPr id="3" name="Text 1"/>
          <p:cNvSpPr/>
          <p:nvPr/>
        </p:nvSpPr>
        <p:spPr>
          <a:xfrm>
            <a:off x="457200" y="219456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画面4: AIサポートチャット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対話で必要情報を補完し、写真/動画も送信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4360" y="1097280"/>
            <a:ext cx="3749040" cy="6126480"/>
          </a:xfrm>
          <a:prstGeom prst="roundRect">
            <a:avLst>
              <a:gd name="adj" fmla="val 2439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HK" altLang="en-US"/>
          </a:p>
        </p:txBody>
      </p:sp>
      <p:pic>
        <p:nvPicPr>
          <p:cNvPr id="6" name="Image 0" descr="/Users/sakonhiroki/fujimak-maintenance/docs/ppt-assets-mobile/suppo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1325880"/>
            <a:ext cx="2971800" cy="5623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87552" y="7004304"/>
            <a:ext cx="2971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iPhone表示イメージ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0" y="1097280"/>
            <a:ext cx="5486400" cy="612648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HK" altLang="en-US"/>
          </a:p>
        </p:txBody>
      </p:sp>
      <p:sp>
        <p:nvSpPr>
          <p:cNvPr id="9" name="Text 6"/>
          <p:cNvSpPr/>
          <p:nvPr/>
        </p:nvSpPr>
        <p:spPr>
          <a:xfrm>
            <a:off x="4800600" y="13258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563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この画面で行うこと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4828032" y="1783080"/>
            <a:ext cx="489204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苗字・連絡先・症状を順番に案内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写真/動画を添付して状況共有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不足情報をAIが聞き返して品質向上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会話ログは履歴・管理画面に保存</a:t>
            </a:r>
            <a:endParaRPr lang="en-US" sz="1400" dirty="0"/>
          </a:p>
        </p:txBody>
      </p:sp>
      <p:sp>
        <p:nvSpPr>
          <p:cNvPr id="11" name="TextBox 6">
            <a:extLst>
              <a:ext uri="{FF2B5EF4-FFF2-40B4-BE49-F238E27FC236}">
                <a16:creationId xmlns:a16="http://schemas.microsoft.com/office/drawing/2014/main" id="{45FD8A36-92DC-0464-73C5-0BF34776115E}"/>
              </a:ext>
            </a:extLst>
          </p:cNvPr>
          <p:cNvSpPr txBox="1"/>
          <p:nvPr/>
        </p:nvSpPr>
        <p:spPr>
          <a:xfrm>
            <a:off x="1076674" y="7272700"/>
            <a:ext cx="9509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dirty="0">
                <a:solidFill>
                  <a:srgbClr val="667694"/>
                </a:solidFill>
                <a:latin typeface="Meiryo"/>
              </a:rPr>
              <a:t>© 2024 LIFESUPPORT(HK) All Right Reserved.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219456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画面5: Mechanic作業記録（新機能）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訪問作業の証跡化と受領サイン取得をモバイルで完結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4360" y="1097280"/>
            <a:ext cx="3749040" cy="6126480"/>
          </a:xfrm>
          <a:prstGeom prst="roundRect">
            <a:avLst>
              <a:gd name="adj" fmla="val 2439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HK" altLang="en-US"/>
          </a:p>
        </p:txBody>
      </p:sp>
      <p:pic>
        <p:nvPicPr>
          <p:cNvPr id="6" name="Image 0" descr="/Users/sakonhiroki/fujimak-maintenance/docs/ppt-assets-mobile/mechan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1325880"/>
            <a:ext cx="2971800" cy="5623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87552" y="7004304"/>
            <a:ext cx="2971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iPhone表示イメージ（Mechanic）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0" y="1097280"/>
            <a:ext cx="5486400" cy="612648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HK" altLang="en-US"/>
          </a:p>
        </p:txBody>
      </p:sp>
      <p:sp>
        <p:nvSpPr>
          <p:cNvPr id="9" name="Text 6"/>
          <p:cNvSpPr/>
          <p:nvPr/>
        </p:nvSpPr>
        <p:spPr>
          <a:xfrm>
            <a:off x="4800600" y="132588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563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この画面で行うこと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4828032" y="1783080"/>
            <a:ext cx="489204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作業予定を選択し Start Work を押す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Before写真を保存して開始時刻を記録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After写真/動画と作業コメントを入力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Save and Get the Sign で受領画面へ遷移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顧客サイン後に Save PDF / Send to Customer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Demo/Production を地球儀3回タップで切替</a:t>
            </a:r>
            <a:endParaRPr lang="en-US" sz="1400" dirty="0"/>
          </a:p>
        </p:txBody>
      </p:sp>
      <p:sp>
        <p:nvSpPr>
          <p:cNvPr id="11" name="Shape 0">
            <a:extLst>
              <a:ext uri="{FF2B5EF4-FFF2-40B4-BE49-F238E27FC236}">
                <a16:creationId xmlns:a16="http://schemas.microsoft.com/office/drawing/2014/main" id="{8AB945FC-03B4-5636-ACB9-4CA90EBB90F5}"/>
              </a:ext>
            </a:extLst>
          </p:cNvPr>
          <p:cNvSpPr/>
          <p:nvPr/>
        </p:nvSpPr>
        <p:spPr>
          <a:xfrm>
            <a:off x="0" y="0"/>
            <a:ext cx="10689336" cy="137160"/>
          </a:xfrm>
          <a:prstGeom prst="rect">
            <a:avLst/>
          </a:prstGeom>
          <a:solidFill>
            <a:schemeClr val="tx1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ja-HK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219456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画面6: Mechanic作業記録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訪問作業の証跡化と受領サイン取得をモバイルで完結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4360" y="1097280"/>
            <a:ext cx="3749040" cy="6126480"/>
          </a:xfrm>
          <a:prstGeom prst="roundRect">
            <a:avLst>
              <a:gd name="adj" fmla="val 2439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HK" altLang="en-US"/>
          </a:p>
        </p:txBody>
      </p:sp>
      <p:sp>
        <p:nvSpPr>
          <p:cNvPr id="7" name="Text 4"/>
          <p:cNvSpPr/>
          <p:nvPr/>
        </p:nvSpPr>
        <p:spPr>
          <a:xfrm>
            <a:off x="987552" y="7004304"/>
            <a:ext cx="2971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iPhone表示イメージ（Mechanic）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0" y="1097280"/>
            <a:ext cx="5486400" cy="612648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HK" altLang="en-US"/>
          </a:p>
        </p:txBody>
      </p:sp>
      <p:sp>
        <p:nvSpPr>
          <p:cNvPr id="9" name="Text 6"/>
          <p:cNvSpPr/>
          <p:nvPr/>
        </p:nvSpPr>
        <p:spPr>
          <a:xfrm>
            <a:off x="4800600" y="132588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563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この画面で行うこと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4828032" y="1783080"/>
            <a:ext cx="489204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作業予定を選択し Start Work を押す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Before写真を保存して開始時刻を記録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After写真/動画と作業コメントを入力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Save and Get the Sign で受領画面へ遷移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顧客サイン後に Save PDF / Send to Customer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Demo/Production を地球儀3回タップで切替</a:t>
            </a:r>
            <a:endParaRPr lang="en-US" sz="1400" dirty="0"/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C8AE5063-51B7-6096-C287-39698A93E9C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029" b="1104"/>
          <a:stretch>
            <a:fillRect/>
          </a:stretch>
        </p:blipFill>
        <p:spPr>
          <a:xfrm>
            <a:off x="728653" y="1420725"/>
            <a:ext cx="3480454" cy="4938346"/>
          </a:xfrm>
          <a:prstGeom prst="rect">
            <a:avLst/>
          </a:prstGeom>
        </p:spPr>
      </p:pic>
      <p:sp>
        <p:nvSpPr>
          <p:cNvPr id="15" name="Shape 0">
            <a:extLst>
              <a:ext uri="{FF2B5EF4-FFF2-40B4-BE49-F238E27FC236}">
                <a16:creationId xmlns:a16="http://schemas.microsoft.com/office/drawing/2014/main" id="{5AC04029-E89F-9D1B-592D-2BF8A7B292D9}"/>
              </a:ext>
            </a:extLst>
          </p:cNvPr>
          <p:cNvSpPr/>
          <p:nvPr/>
        </p:nvSpPr>
        <p:spPr>
          <a:xfrm>
            <a:off x="0" y="0"/>
            <a:ext cx="10689336" cy="137160"/>
          </a:xfrm>
          <a:prstGeom prst="rect">
            <a:avLst/>
          </a:prstGeom>
          <a:solidFill>
            <a:schemeClr val="tx1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ja-HK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89336" cy="137160"/>
          </a:xfrm>
          <a:prstGeom prst="rect">
            <a:avLst/>
          </a:prstGeom>
          <a:solidFill>
            <a:schemeClr val="tx1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ja-HK" altLang="en-US"/>
          </a:p>
        </p:txBody>
      </p:sp>
      <p:sp>
        <p:nvSpPr>
          <p:cNvPr id="3" name="Text 1"/>
          <p:cNvSpPr/>
          <p:nvPr/>
        </p:nvSpPr>
        <p:spPr>
          <a:xfrm>
            <a:off x="457200" y="219456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画面7: Request History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過去依頼とAIサポート履歴を確認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4360" y="1097280"/>
            <a:ext cx="3749040" cy="6126480"/>
          </a:xfrm>
          <a:prstGeom prst="roundRect">
            <a:avLst>
              <a:gd name="adj" fmla="val 2439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HK" altLang="en-US"/>
          </a:p>
        </p:txBody>
      </p:sp>
      <p:pic>
        <p:nvPicPr>
          <p:cNvPr id="6" name="Image 0" descr="/Users/sakonhiroki/fujimak-maintenance/docs/ppt-assets-mobile/histo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1325880"/>
            <a:ext cx="2971800" cy="5623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87552" y="7004304"/>
            <a:ext cx="2971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iPhone表示イメージ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0" y="1097280"/>
            <a:ext cx="5486400" cy="612648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HK" altLang="en-US"/>
          </a:p>
        </p:txBody>
      </p:sp>
      <p:sp>
        <p:nvSpPr>
          <p:cNvPr id="9" name="Text 6"/>
          <p:cNvSpPr/>
          <p:nvPr/>
        </p:nvSpPr>
        <p:spPr>
          <a:xfrm>
            <a:off x="4800600" y="13258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563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この画面で行うこと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4828032" y="1783080"/>
            <a:ext cx="489204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依頼履歴をステータス別に確認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Support Request HistoryでAI会話ログを確認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画像・動画添付も履歴から再確認可能</a:t>
            </a:r>
            <a:endParaRPr lang="en-US" sz="1400" dirty="0"/>
          </a:p>
        </p:txBody>
      </p:sp>
      <p:sp>
        <p:nvSpPr>
          <p:cNvPr id="11" name="TextBox 6">
            <a:extLst>
              <a:ext uri="{FF2B5EF4-FFF2-40B4-BE49-F238E27FC236}">
                <a16:creationId xmlns:a16="http://schemas.microsoft.com/office/drawing/2014/main" id="{3FDEADD7-26FC-2595-36A0-3E9897248486}"/>
              </a:ext>
            </a:extLst>
          </p:cNvPr>
          <p:cNvSpPr txBox="1"/>
          <p:nvPr/>
        </p:nvSpPr>
        <p:spPr>
          <a:xfrm>
            <a:off x="1076674" y="7272700"/>
            <a:ext cx="9509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dirty="0">
                <a:solidFill>
                  <a:srgbClr val="667694"/>
                </a:solidFill>
                <a:latin typeface="Meiryo"/>
              </a:rPr>
              <a:t>© 2024 LIFESUPPORT(HK) All Right Reserved.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89336" cy="137160"/>
          </a:xfrm>
          <a:prstGeom prst="rect">
            <a:avLst/>
          </a:prstGeom>
          <a:solidFill>
            <a:schemeClr val="tx1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ja-HK" altLang="en-US"/>
          </a:p>
        </p:txBody>
      </p:sp>
      <p:sp>
        <p:nvSpPr>
          <p:cNvPr id="3" name="Text 1"/>
          <p:cNvSpPr/>
          <p:nvPr/>
        </p:nvSpPr>
        <p:spPr>
          <a:xfrm>
            <a:off x="457200" y="219456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画面8: Store Management（管理者）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全案件の進捗と内容を一元管理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4360" y="1097280"/>
            <a:ext cx="3749040" cy="6126480"/>
          </a:xfrm>
          <a:prstGeom prst="roundRect">
            <a:avLst>
              <a:gd name="adj" fmla="val 2439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HK" altLang="en-US"/>
          </a:p>
        </p:txBody>
      </p:sp>
      <p:pic>
        <p:nvPicPr>
          <p:cNvPr id="6" name="Image 0" descr="/Users/sakonhiroki/fujimak-maintenance/docs/ppt-assets-mobile/manage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1325880"/>
            <a:ext cx="2971800" cy="5623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87552" y="7004304"/>
            <a:ext cx="2971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iPhone表示イメージ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0" y="1097280"/>
            <a:ext cx="5486400" cy="612648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HK" altLang="en-US"/>
          </a:p>
        </p:txBody>
      </p:sp>
      <p:sp>
        <p:nvSpPr>
          <p:cNvPr id="9" name="Text 6"/>
          <p:cNvSpPr/>
          <p:nvPr/>
        </p:nvSpPr>
        <p:spPr>
          <a:xfrm>
            <a:off x="4800600" y="13258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563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この画面で行うこと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4828032" y="1783080"/>
            <a:ext cx="489204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店舗横断で依頼一覧を確認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チャットログ・添付を確認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優先度とステータスで対応を管理</a:t>
            </a:r>
            <a:endParaRPr lang="en-US" sz="1400" dirty="0"/>
          </a:p>
        </p:txBody>
      </p:sp>
      <p:sp>
        <p:nvSpPr>
          <p:cNvPr id="11" name="TextBox 6">
            <a:extLst>
              <a:ext uri="{FF2B5EF4-FFF2-40B4-BE49-F238E27FC236}">
                <a16:creationId xmlns:a16="http://schemas.microsoft.com/office/drawing/2014/main" id="{6C4253ED-8497-C4CD-88C0-FEEB1FA86D8C}"/>
              </a:ext>
            </a:extLst>
          </p:cNvPr>
          <p:cNvSpPr txBox="1"/>
          <p:nvPr/>
        </p:nvSpPr>
        <p:spPr>
          <a:xfrm>
            <a:off x="1076674" y="7272700"/>
            <a:ext cx="9509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dirty="0">
                <a:solidFill>
                  <a:srgbClr val="667694"/>
                </a:solidFill>
                <a:latin typeface="Meiryo"/>
              </a:rPr>
              <a:t>© 2024 LIFESUPPORT(HK) All Right Reserved.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89336" cy="137160"/>
          </a:xfrm>
          <a:prstGeom prst="rect">
            <a:avLst/>
          </a:prstGeom>
          <a:solidFill>
            <a:schemeClr val="tx1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ja-HK" altLang="en-US"/>
          </a:p>
        </p:txBody>
      </p:sp>
      <p:sp>
        <p:nvSpPr>
          <p:cNvPr id="3" name="Text 1"/>
          <p:cNvSpPr/>
          <p:nvPr/>
        </p:nvSpPr>
        <p:spPr>
          <a:xfrm>
            <a:off x="457200" y="219456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画面9: Settings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通知先や運用設定を管理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4360" y="1097280"/>
            <a:ext cx="3749040" cy="6126480"/>
          </a:xfrm>
          <a:prstGeom prst="roundRect">
            <a:avLst>
              <a:gd name="adj" fmla="val 2439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HK" altLang="en-US"/>
          </a:p>
        </p:txBody>
      </p:sp>
      <p:pic>
        <p:nvPicPr>
          <p:cNvPr id="6" name="Image 0" descr="/Users/sakonhiroki/fujimak-maintenance/docs/ppt-assets-mobile/settin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1325880"/>
            <a:ext cx="2971800" cy="5623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87552" y="7004304"/>
            <a:ext cx="2971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iPhone表示イメージ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0" y="1097280"/>
            <a:ext cx="5486400" cy="612648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HK" altLang="en-US"/>
          </a:p>
        </p:txBody>
      </p:sp>
      <p:sp>
        <p:nvSpPr>
          <p:cNvPr id="9" name="Text 6"/>
          <p:cNvSpPr/>
          <p:nvPr/>
        </p:nvSpPr>
        <p:spPr>
          <a:xfrm>
            <a:off x="4800600" y="13258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563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この画面で行うこと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4828032" y="1783080"/>
            <a:ext cx="489204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通知ベンダー情報を管理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部品発注メール送信先を設定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運用開始前に連絡先を整備</a:t>
            </a:r>
            <a:endParaRPr lang="en-US" sz="1400" dirty="0"/>
          </a:p>
        </p:txBody>
      </p:sp>
      <p:sp>
        <p:nvSpPr>
          <p:cNvPr id="11" name="TextBox 6">
            <a:extLst>
              <a:ext uri="{FF2B5EF4-FFF2-40B4-BE49-F238E27FC236}">
                <a16:creationId xmlns:a16="http://schemas.microsoft.com/office/drawing/2014/main" id="{99C89FD0-4055-0D28-316B-914FD29A211D}"/>
              </a:ext>
            </a:extLst>
          </p:cNvPr>
          <p:cNvSpPr txBox="1"/>
          <p:nvPr/>
        </p:nvSpPr>
        <p:spPr>
          <a:xfrm>
            <a:off x="1076674" y="7272700"/>
            <a:ext cx="9509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dirty="0">
                <a:solidFill>
                  <a:srgbClr val="667694"/>
                </a:solidFill>
                <a:latin typeface="Meiryo"/>
              </a:rPr>
              <a:t>© 2024 LIFESUPPORT(HK) All Right Reserved.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89336" cy="137160"/>
          </a:xfrm>
          <a:prstGeom prst="rect">
            <a:avLst/>
          </a:prstGeom>
          <a:solidFill>
            <a:schemeClr val="tx1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ja-HK" altLang="en-US"/>
          </a:p>
        </p:txBody>
      </p:sp>
      <p:sp>
        <p:nvSpPr>
          <p:cNvPr id="3" name="Text 1"/>
          <p:cNvSpPr/>
          <p:nvPr/>
        </p:nvSpPr>
        <p:spPr>
          <a:xfrm>
            <a:off x="457200" y="219456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業務用文書(parts order)の自動作成機能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部品注文データから帳票PDFを自動生成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097280"/>
            <a:ext cx="4391052" cy="6080760"/>
          </a:xfrm>
          <a:prstGeom prst="roundRect">
            <a:avLst>
              <a:gd name="adj" fmla="val 1504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HK" altLang="en-US"/>
          </a:p>
        </p:txBody>
      </p:sp>
      <p:sp>
        <p:nvSpPr>
          <p:cNvPr id="7" name="Shape 4"/>
          <p:cNvSpPr/>
          <p:nvPr/>
        </p:nvSpPr>
        <p:spPr>
          <a:xfrm>
            <a:off x="5190186" y="1097280"/>
            <a:ext cx="4959654" cy="608076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HK" altLang="en-US"/>
          </a:p>
        </p:txBody>
      </p:sp>
      <p:sp>
        <p:nvSpPr>
          <p:cNvPr id="8" name="Text 5"/>
          <p:cNvSpPr/>
          <p:nvPr/>
        </p:nvSpPr>
        <p:spPr>
          <a:xfrm>
            <a:off x="5344319" y="12344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自動作成される内容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344319" y="1691640"/>
            <a:ext cx="2377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注文番号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店舗/機器情報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部品明細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数量/単価/合計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備考欄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344319" y="3977640"/>
            <a:ext cx="23774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メリット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手入力ミス削減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報告を標準化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文書作成時間短縮</a:t>
            </a:r>
            <a:endParaRPr lang="en-US" sz="1300" dirty="0"/>
          </a:p>
        </p:txBody>
      </p:sp>
      <p:pic>
        <p:nvPicPr>
          <p:cNvPr id="12" name="図 11" descr="テーブル&#10;&#10;AI 生成コンテンツは誤りを含む可能性があります。">
            <a:extLst>
              <a:ext uri="{FF2B5EF4-FFF2-40B4-BE49-F238E27FC236}">
                <a16:creationId xmlns:a16="http://schemas.microsoft.com/office/drawing/2014/main" id="{6D3754FB-D5D8-45FA-7605-0726874C83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729" y="1234440"/>
            <a:ext cx="3993649" cy="5633466"/>
          </a:xfrm>
          <a:prstGeom prst="rect">
            <a:avLst/>
          </a:prstGeom>
        </p:spPr>
      </p:pic>
      <p:sp>
        <p:nvSpPr>
          <p:cNvPr id="13" name="TextBox 6">
            <a:extLst>
              <a:ext uri="{FF2B5EF4-FFF2-40B4-BE49-F238E27FC236}">
                <a16:creationId xmlns:a16="http://schemas.microsoft.com/office/drawing/2014/main" id="{5B48DF44-AA8F-4277-5559-0983CBD90FF4}"/>
              </a:ext>
            </a:extLst>
          </p:cNvPr>
          <p:cNvSpPr txBox="1"/>
          <p:nvPr/>
        </p:nvSpPr>
        <p:spPr>
          <a:xfrm>
            <a:off x="1076674" y="7272700"/>
            <a:ext cx="9509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dirty="0">
                <a:solidFill>
                  <a:srgbClr val="667694"/>
                </a:solidFill>
                <a:latin typeface="Meiryo"/>
              </a:rPr>
              <a:t>© 2024 LIFESUPPORT(HK) All Right Reserved.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89336" cy="137160"/>
          </a:xfrm>
          <a:prstGeom prst="rect">
            <a:avLst/>
          </a:prstGeom>
          <a:solidFill>
            <a:schemeClr val="tx1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ja-HK" altLang="en-US"/>
          </a:p>
        </p:txBody>
      </p:sp>
      <p:sp>
        <p:nvSpPr>
          <p:cNvPr id="3" name="Text 1"/>
          <p:cNvSpPr/>
          <p:nvPr/>
        </p:nvSpPr>
        <p:spPr>
          <a:xfrm>
            <a:off x="457200" y="219456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ハードウェア接続マップ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iPhone・管理PC・クラウドの連携構成</a:t>
            </a:r>
            <a:endParaRPr lang="en-US" sz="1200" dirty="0"/>
          </a:p>
        </p:txBody>
      </p:sp>
      <p:pic>
        <p:nvPicPr>
          <p:cNvPr id="6" name="Image 0" descr="/Users/sakonhiroki/Library/CloudStorage/GoogleDrive-bestinksalesman@gmail.com/マイドライブ/KIRII/吉沢さん案件/fujimak/cl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7323" y="3650496"/>
            <a:ext cx="2514600" cy="2514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914443" y="6119376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クラウドシステム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[MainT-AI fujimak ver]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1051560" y="64008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顧客 1名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iPhone</a:t>
            </a:r>
            <a:endParaRPr lang="en-US" sz="1200" dirty="0"/>
          </a:p>
        </p:txBody>
      </p:sp>
      <p:pic>
        <p:nvPicPr>
          <p:cNvPr id="10" name="Image 2" descr="/Users/sakonhiroki/Library/CloudStorage/GoogleDrive-bestinksalesman@gmail.com/マイドライブ/KIRII/吉沢さん案件/fujimak/P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9600" y="4526280"/>
            <a:ext cx="3017520" cy="18745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893880" y="640080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カウンターメイン管理PC 1台</a:t>
            </a:r>
            <a:endParaRPr lang="en-US" sz="1200" dirty="0"/>
          </a:p>
        </p:txBody>
      </p:sp>
      <p:sp>
        <p:nvSpPr>
          <p:cNvPr id="12" name="Shape 7"/>
          <p:cNvSpPr/>
          <p:nvPr/>
        </p:nvSpPr>
        <p:spPr>
          <a:xfrm flipV="1">
            <a:off x="2826327" y="5113535"/>
            <a:ext cx="1552697" cy="7104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ja-HK" altLang="en-US"/>
          </a:p>
        </p:txBody>
      </p:sp>
      <p:sp>
        <p:nvSpPr>
          <p:cNvPr id="13" name="Shape 8"/>
          <p:cNvSpPr/>
          <p:nvPr/>
        </p:nvSpPr>
        <p:spPr>
          <a:xfrm>
            <a:off x="7315200" y="4663440"/>
            <a:ext cx="0" cy="0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ja-HK" altLang="en-US"/>
          </a:p>
        </p:txBody>
      </p:sp>
      <p:sp>
        <p:nvSpPr>
          <p:cNvPr id="14" name="Text 9"/>
          <p:cNvSpPr/>
          <p:nvPr/>
        </p:nvSpPr>
        <p:spPr>
          <a:xfrm>
            <a:off x="2971800" y="5212472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563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依頼データ送信</a:t>
            </a:r>
            <a:endParaRPr lang="en-US" sz="1000" dirty="0"/>
          </a:p>
        </p:txBody>
      </p:sp>
      <p:sp>
        <p:nvSpPr>
          <p:cNvPr id="15" name="Text 10"/>
          <p:cNvSpPr/>
          <p:nvPr/>
        </p:nvSpPr>
        <p:spPr>
          <a:xfrm>
            <a:off x="6418161" y="5173463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563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管理/確認データ</a:t>
            </a:r>
            <a:endParaRPr lang="en-US" sz="1000" dirty="0"/>
          </a:p>
        </p:txBody>
      </p:sp>
      <p:sp>
        <p:nvSpPr>
          <p:cNvPr id="17" name="Shape 7">
            <a:extLst>
              <a:ext uri="{FF2B5EF4-FFF2-40B4-BE49-F238E27FC236}">
                <a16:creationId xmlns:a16="http://schemas.microsoft.com/office/drawing/2014/main" id="{8356166A-B101-570D-86C0-DE9EE7925193}"/>
              </a:ext>
            </a:extLst>
          </p:cNvPr>
          <p:cNvSpPr/>
          <p:nvPr/>
        </p:nvSpPr>
        <p:spPr>
          <a:xfrm flipH="1" flipV="1">
            <a:off x="6309614" y="5120639"/>
            <a:ext cx="1473551" cy="7104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ja-HK" altLang="en-US"/>
          </a:p>
        </p:txBody>
      </p:sp>
      <p:pic>
        <p:nvPicPr>
          <p:cNvPr id="19" name="図 18" descr="QR コード&#10;&#10;AI 生成コンテンツは誤りを含む可能性があります。">
            <a:extLst>
              <a:ext uri="{FF2B5EF4-FFF2-40B4-BE49-F238E27FC236}">
                <a16:creationId xmlns:a16="http://schemas.microsoft.com/office/drawing/2014/main" id="{954E0562-FC5A-099C-51CB-06875E2BC6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3365" y="1722803"/>
            <a:ext cx="1522940" cy="1522940"/>
          </a:xfrm>
          <a:prstGeom prst="rect">
            <a:avLst/>
          </a:prstGeom>
        </p:spPr>
      </p:pic>
      <p:sp>
        <p:nvSpPr>
          <p:cNvPr id="20" name="Text 9">
            <a:extLst>
              <a:ext uri="{FF2B5EF4-FFF2-40B4-BE49-F238E27FC236}">
                <a16:creationId xmlns:a16="http://schemas.microsoft.com/office/drawing/2014/main" id="{5CD61CD1-F287-70F8-D3C8-2276F04532D8}"/>
              </a:ext>
            </a:extLst>
          </p:cNvPr>
          <p:cNvSpPr/>
          <p:nvPr/>
        </p:nvSpPr>
        <p:spPr>
          <a:xfrm>
            <a:off x="1946886" y="1976895"/>
            <a:ext cx="2911780" cy="12001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 err="1">
                <a:solidFill>
                  <a:srgbClr val="2563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URLもしくは</a:t>
            </a:r>
            <a:endParaRPr lang="en-US" sz="1000" dirty="0">
              <a:solidFill>
                <a:srgbClr val="2563EB"/>
              </a:solidFill>
              <a:latin typeface="Meiryo" pitchFamily="34" charset="0"/>
              <a:ea typeface="Meiryo" pitchFamily="34" charset="-122"/>
              <a:cs typeface="Meiryo" pitchFamily="34" charset="-120"/>
            </a:endParaRPr>
          </a:p>
          <a:p>
            <a:r>
              <a:rPr lang="en-US" sz="1000" dirty="0">
                <a:solidFill>
                  <a:srgbClr val="2563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https://</a:t>
            </a:r>
            <a:r>
              <a:rPr lang="en-US" sz="1000" dirty="0" err="1">
                <a:solidFill>
                  <a:srgbClr val="2563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fujimak-maintenance.vercel.app</a:t>
            </a:r>
            <a:r>
              <a:rPr lang="en-US" sz="1000" dirty="0">
                <a:solidFill>
                  <a:srgbClr val="2563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/</a:t>
            </a:r>
          </a:p>
          <a:p>
            <a:pPr marL="0" indent="0">
              <a:buNone/>
            </a:pPr>
            <a:endParaRPr lang="en-US" sz="1000" dirty="0">
              <a:solidFill>
                <a:srgbClr val="2563EB"/>
              </a:solidFill>
              <a:latin typeface="Meiryo" pitchFamily="34" charset="0"/>
              <a:ea typeface="Meiryo" pitchFamily="34" charset="-122"/>
              <a:cs typeface="Meiryo" pitchFamily="34" charset="-120"/>
            </a:endParaRPr>
          </a:p>
          <a:p>
            <a:pPr marL="0" indent="0">
              <a:buNone/>
            </a:pPr>
            <a:r>
              <a:rPr lang="en-US" sz="1000" dirty="0" err="1">
                <a:solidFill>
                  <a:srgbClr val="2563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機械にQRコードシール貼り付け</a:t>
            </a:r>
            <a:endParaRPr lang="en-US" sz="1000" dirty="0"/>
          </a:p>
        </p:txBody>
      </p:sp>
      <p:sp>
        <p:nvSpPr>
          <p:cNvPr id="21" name="TextBox 6">
            <a:extLst>
              <a:ext uri="{FF2B5EF4-FFF2-40B4-BE49-F238E27FC236}">
                <a16:creationId xmlns:a16="http://schemas.microsoft.com/office/drawing/2014/main" id="{7B2EE97B-D9AA-66E1-5E36-577A165D9162}"/>
              </a:ext>
            </a:extLst>
          </p:cNvPr>
          <p:cNvSpPr txBox="1"/>
          <p:nvPr/>
        </p:nvSpPr>
        <p:spPr>
          <a:xfrm>
            <a:off x="1076674" y="7272700"/>
            <a:ext cx="9509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dirty="0">
                <a:solidFill>
                  <a:srgbClr val="667694"/>
                </a:solidFill>
                <a:latin typeface="Meiryo"/>
              </a:rPr>
              <a:t>© 2024 LIFESUPPORT(HK) All Right Reserved.</a:t>
            </a:r>
          </a:p>
        </p:txBody>
      </p:sp>
      <p:pic>
        <p:nvPicPr>
          <p:cNvPr id="5" name="図 4" descr="携帯電話の画面&#10;&#10;AI 生成コンテンツは誤りを含む可能性があります。">
            <a:extLst>
              <a:ext uri="{FF2B5EF4-FFF2-40B4-BE49-F238E27FC236}">
                <a16:creationId xmlns:a16="http://schemas.microsoft.com/office/drawing/2014/main" id="{5BC441B0-C4AA-5EE1-6AB9-CD7BCEAEFC1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8980" t="6750" r="40428" b="12611"/>
          <a:stretch>
            <a:fillRect/>
          </a:stretch>
        </p:blipFill>
        <p:spPr>
          <a:xfrm>
            <a:off x="1765599" y="4077284"/>
            <a:ext cx="1119731" cy="2192357"/>
          </a:xfrm>
          <a:prstGeom prst="rect">
            <a:avLst/>
          </a:prstGeom>
        </p:spPr>
      </p:pic>
      <p:sp>
        <p:nvSpPr>
          <p:cNvPr id="8" name="Text 2">
            <a:extLst>
              <a:ext uri="{FF2B5EF4-FFF2-40B4-BE49-F238E27FC236}">
                <a16:creationId xmlns:a16="http://schemas.microsoft.com/office/drawing/2014/main" id="{537CCE90-8BBA-2485-FA1E-D25B22A51811}"/>
              </a:ext>
            </a:extLst>
          </p:cNvPr>
          <p:cNvSpPr/>
          <p:nvPr/>
        </p:nvSpPr>
        <p:spPr>
          <a:xfrm>
            <a:off x="1955558" y="1885062"/>
            <a:ext cx="29117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デモシステム配置先:</a:t>
            </a:r>
            <a:endParaRPr lang="en-US" sz="1200" b="1" dirty="0"/>
          </a:p>
        </p:txBody>
      </p:sp>
      <p:grpSp>
        <p:nvGrpSpPr>
          <p:cNvPr id="22" name="グループ化 21">
            <a:extLst>
              <a:ext uri="{FF2B5EF4-FFF2-40B4-BE49-F238E27FC236}">
                <a16:creationId xmlns:a16="http://schemas.microsoft.com/office/drawing/2014/main" id="{7C5EFDC5-1FD2-027E-6728-54A210DD4BCE}"/>
              </a:ext>
            </a:extLst>
          </p:cNvPr>
          <p:cNvGrpSpPr/>
          <p:nvPr/>
        </p:nvGrpSpPr>
        <p:grpSpPr>
          <a:xfrm>
            <a:off x="5212688" y="427105"/>
            <a:ext cx="4744432" cy="3094030"/>
            <a:chOff x="5212688" y="427105"/>
            <a:chExt cx="4744432" cy="3094030"/>
          </a:xfrm>
        </p:grpSpPr>
        <p:pic>
          <p:nvPicPr>
            <p:cNvPr id="23" name="図 22">
              <a:extLst>
                <a:ext uri="{FF2B5EF4-FFF2-40B4-BE49-F238E27FC236}">
                  <a16:creationId xmlns:a16="http://schemas.microsoft.com/office/drawing/2014/main" id="{20D19F34-0E9F-078A-C32D-08E1411FC3E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281154" y="1578585"/>
              <a:ext cx="2675966" cy="1693384"/>
            </a:xfrm>
            <a:prstGeom prst="rect">
              <a:avLst/>
            </a:prstGeom>
          </p:spPr>
        </p:pic>
        <p:pic>
          <p:nvPicPr>
            <p:cNvPr id="25" name="図 24">
              <a:extLst>
                <a:ext uri="{FF2B5EF4-FFF2-40B4-BE49-F238E27FC236}">
                  <a16:creationId xmlns:a16="http://schemas.microsoft.com/office/drawing/2014/main" id="{9F378CBA-98B2-C5B6-907E-6681EF25A58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276066" y="1679014"/>
              <a:ext cx="2150928" cy="1361134"/>
            </a:xfrm>
            <a:prstGeom prst="rect">
              <a:avLst/>
            </a:prstGeom>
          </p:spPr>
        </p:pic>
        <p:sp>
          <p:nvSpPr>
            <p:cNvPr id="28" name="正方形/長方形 27">
              <a:extLst>
                <a:ext uri="{FF2B5EF4-FFF2-40B4-BE49-F238E27FC236}">
                  <a16:creationId xmlns:a16="http://schemas.microsoft.com/office/drawing/2014/main" id="{321B5891-FB30-9C20-7493-0724E1BA5199}"/>
                </a:ext>
              </a:extLst>
            </p:cNvPr>
            <p:cNvSpPr/>
            <p:nvPr/>
          </p:nvSpPr>
          <p:spPr>
            <a:xfrm>
              <a:off x="5212688" y="1112920"/>
              <a:ext cx="4697458" cy="2397550"/>
            </a:xfrm>
            <a:prstGeom prst="rect">
              <a:avLst/>
            </a:prstGeom>
            <a:no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HK" altLang="en-US"/>
            </a:p>
          </p:txBody>
        </p:sp>
        <p:pic>
          <p:nvPicPr>
            <p:cNvPr id="27" name="図 26" descr="挿絵, 食品 が含まれている画像&#10;&#10;AI 生成コンテンツは誤りを含む可能性があります。">
              <a:extLst>
                <a:ext uri="{FF2B5EF4-FFF2-40B4-BE49-F238E27FC236}">
                  <a16:creationId xmlns:a16="http://schemas.microsoft.com/office/drawing/2014/main" id="{82E4B9A6-BDB6-CC39-70D9-B6D1AB29F375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941031" y="427105"/>
              <a:ext cx="3337560" cy="1267809"/>
            </a:xfrm>
            <a:prstGeom prst="rect">
              <a:avLst/>
            </a:prstGeom>
          </p:spPr>
        </p:pic>
        <p:sp>
          <p:nvSpPr>
            <p:cNvPr id="18" name="Text 2">
              <a:extLst>
                <a:ext uri="{FF2B5EF4-FFF2-40B4-BE49-F238E27FC236}">
                  <a16:creationId xmlns:a16="http://schemas.microsoft.com/office/drawing/2014/main" id="{53BC62AE-8872-8C1F-0AB7-6D2DE297CC14}"/>
                </a:ext>
              </a:extLst>
            </p:cNvPr>
            <p:cNvSpPr/>
            <p:nvPr/>
          </p:nvSpPr>
          <p:spPr>
            <a:xfrm>
              <a:off x="6265177" y="3201095"/>
              <a:ext cx="3501556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475569"/>
                  </a:solidFill>
                  <a:latin typeface="Meiryo" pitchFamily="34" charset="0"/>
                  <a:ea typeface="Meiryo" pitchFamily="34" charset="-122"/>
                  <a:cs typeface="Meiryo" pitchFamily="34" charset="-120"/>
                </a:rPr>
                <a:t>*顧客との連携強化、機械故障リスクの軽減</a:t>
              </a:r>
              <a:endParaRPr lang="en-US" sz="1050" b="1" dirty="0"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89336" cy="137160"/>
          </a:xfrm>
          <a:prstGeom prst="rect">
            <a:avLst/>
          </a:prstGeom>
          <a:solidFill>
            <a:schemeClr val="tx1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ja-HK" altLang="en-US"/>
          </a:p>
        </p:txBody>
      </p:sp>
      <p:sp>
        <p:nvSpPr>
          <p:cNvPr id="3" name="Text 1"/>
          <p:cNvSpPr/>
          <p:nvPr/>
        </p:nvSpPr>
        <p:spPr>
          <a:xfrm>
            <a:off x="457200" y="111633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まとめ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57200" y="1591818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モバイル中心で現場対応を効率化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89611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現場スタッフはiPhoneだけで依頼～添付～送信まで完結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管理側はPCで全店舗の状況を一元把握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AIチャットと自動文書化により、伝達品質と業務効率を向上</a:t>
            </a:r>
            <a:endParaRPr lang="en-US" sz="1900" dirty="0"/>
          </a:p>
        </p:txBody>
      </p:sp>
      <p:pic>
        <p:nvPicPr>
          <p:cNvPr id="6" name="Image 0" descr="/Users/sakonhiroki/Library/CloudStorage/GoogleDrive-bestinksalesman@gmail.com/マイドライブ/KIRII/吉沢さん案件/fujimak/cl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4023360"/>
            <a:ext cx="2194560" cy="2194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6385989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latin typeface="Meiryo" pitchFamily="34" charset="0"/>
                <a:ea typeface="Meiryo" pitchFamily="34" charset="-122"/>
                <a:cs typeface="Meiryo" pitchFamily="34" charset="-120"/>
              </a:rPr>
              <a:t>ありがとうございました</a:t>
            </a:r>
            <a:endParaRPr lang="en-US" sz="2400" dirty="0"/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8336240A-F868-2BA4-12D1-87D8DD63920B}"/>
              </a:ext>
            </a:extLst>
          </p:cNvPr>
          <p:cNvSpPr txBox="1"/>
          <p:nvPr/>
        </p:nvSpPr>
        <p:spPr>
          <a:xfrm>
            <a:off x="1076674" y="7285579"/>
            <a:ext cx="9509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dirty="0">
                <a:solidFill>
                  <a:srgbClr val="667694"/>
                </a:solidFill>
                <a:latin typeface="Meiryo"/>
              </a:rPr>
              <a:t>© 2024 LIFESUPPORT(HK) All Right Reserved.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596</Words>
  <Application>Microsoft Macintosh PowerPoint</Application>
  <PresentationFormat>ユーザー設定</PresentationFormat>
  <Paragraphs>143</Paragraphs>
  <Slides>14</Slides>
  <Notes>14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14</vt:i4>
      </vt:variant>
    </vt:vector>
  </HeadingPairs>
  <TitlesOfParts>
    <vt:vector size="17" baseType="lpstr">
      <vt:lpstr>Meiryo</vt:lpstr>
      <vt:lpstr>Arial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FUJIMAK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FUJIMAK MainT-AI モバイル版紹介</dc:title>
  <dc:subject>Mobile-first system introduction</dc:subject>
  <dc:creator>FUJIMAK MainT-AI</dc:creator>
  <cp:lastModifiedBy>hiroki sakon</cp:lastModifiedBy>
  <cp:revision>20</cp:revision>
  <cp:lastPrinted>2026-03-31T02:16:53Z</cp:lastPrinted>
  <dcterms:created xsi:type="dcterms:W3CDTF">2026-03-30T03:49:04Z</dcterms:created>
  <dcterms:modified xsi:type="dcterms:W3CDTF">2026-03-31T02:47:22Z</dcterms:modified>
</cp:coreProperties>
</file>